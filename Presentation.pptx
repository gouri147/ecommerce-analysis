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Luktao Bold" charset="1" panose="00000000000000000000"/>
      <p:regular r:id="rId25"/>
    </p:embeddedFont>
    <p:embeddedFont>
      <p:font typeface="Nourd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png" Type="http://schemas.openxmlformats.org/officeDocument/2006/relationships/image"/><Relationship Id="rId13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13" Target="../media/image4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png" Type="http://schemas.openxmlformats.org/officeDocument/2006/relationships/image"/><Relationship Id="rId12" Target="../media/image45.png" Type="http://schemas.openxmlformats.org/officeDocument/2006/relationships/image"/><Relationship Id="rId13" Target="../media/image4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13" Target="../media/image5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png" Type="http://schemas.openxmlformats.org/officeDocument/2006/relationships/image"/><Relationship Id="rId12" Target="../media/image61.png" Type="http://schemas.openxmlformats.org/officeDocument/2006/relationships/image"/><Relationship Id="rId13" Target="../media/image6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3.png" Type="http://schemas.openxmlformats.org/officeDocument/2006/relationships/image"/><Relationship Id="rId11" Target="../media/image64.png" Type="http://schemas.openxmlformats.org/officeDocument/2006/relationships/image"/><Relationship Id="rId12" Target="../media/image65.png" Type="http://schemas.openxmlformats.org/officeDocument/2006/relationships/image"/><Relationship Id="rId13" Target="../media/image6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57925" y="28887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535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925109" y="2128715"/>
            <a:ext cx="13109152" cy="513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8"/>
              </a:lnSpc>
            </a:pPr>
            <a:r>
              <a:rPr lang="en-US" b="true" sz="4156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NAVIGATING THE FUTURE OF ONLINE SHOPPING</a:t>
            </a:r>
          </a:p>
          <a:p>
            <a:pPr algn="ctr">
              <a:lnSpc>
                <a:spcPts val="5818"/>
              </a:lnSpc>
            </a:pPr>
          </a:p>
          <a:p>
            <a:pPr algn="ctr">
              <a:lnSpc>
                <a:spcPts val="5818"/>
              </a:lnSpc>
            </a:pPr>
          </a:p>
          <a:p>
            <a:pPr algn="ctr">
              <a:lnSpc>
                <a:spcPts val="5818"/>
              </a:lnSpc>
            </a:pPr>
            <a:r>
              <a:rPr lang="en-US" b="true" sz="4156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E-COMMERCE DATA ANALYSIS USING SQL &amp; PYTHON</a:t>
            </a:r>
          </a:p>
          <a:p>
            <a:pPr algn="ctr">
              <a:lnSpc>
                <a:spcPts val="5818"/>
              </a:lnSpc>
            </a:pPr>
          </a:p>
          <a:p>
            <a:pPr algn="ctr">
              <a:lnSpc>
                <a:spcPts val="5818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5359" y="5329892"/>
            <a:ext cx="9444327" cy="4928221"/>
          </a:xfrm>
          <a:custGeom>
            <a:avLst/>
            <a:gdLst/>
            <a:ahLst/>
            <a:cxnLst/>
            <a:rect r="r" b="b" t="t" l="l"/>
            <a:pathLst>
              <a:path h="4928221" w="9444327">
                <a:moveTo>
                  <a:pt x="0" y="0"/>
                </a:moveTo>
                <a:lnTo>
                  <a:pt x="9444326" y="0"/>
                </a:lnTo>
                <a:lnTo>
                  <a:pt x="9444326" y="4928221"/>
                </a:lnTo>
                <a:lnTo>
                  <a:pt x="0" y="4928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27606" y="6172200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4698" y="650011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37594" y="8554247"/>
            <a:ext cx="4884182" cy="70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8"/>
              </a:lnSpc>
              <a:spcBef>
                <a:spcPct val="0"/>
              </a:spcBef>
            </a:pPr>
            <a:r>
              <a:rPr lang="en-US" b="true" sz="4156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BY- GOURI SHARMA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79741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784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535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73048" y="3634915"/>
            <a:ext cx="12359548" cy="3789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6"/>
              </a:lnSpc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 dataset represents a multi-category e-commerce platform connecting customers and sellers across various regions. The platform facilitates online transactions, offering a wide range of products with multiple payment options including installments.</a:t>
            </a:r>
          </a:p>
          <a:p>
            <a:pPr algn="just">
              <a:lnSpc>
                <a:spcPts val="4306"/>
              </a:lnSpc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With increasing competition in the e-commerce space,                        understanding customer behavior, sales performance, and seller contribution is crucial for business growth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50159" y="1595523"/>
            <a:ext cx="9987683" cy="155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b="true" sz="912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ABOUT COMPANY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7423925"/>
            <a:ext cx="5486729" cy="2863075"/>
          </a:xfrm>
          <a:custGeom>
            <a:avLst/>
            <a:gdLst/>
            <a:ahLst/>
            <a:cxnLst/>
            <a:rect r="r" b="b" t="t" l="l"/>
            <a:pathLst>
              <a:path h="2863075" w="5486729">
                <a:moveTo>
                  <a:pt x="0" y="0"/>
                </a:moveTo>
                <a:lnTo>
                  <a:pt x="5486729" y="0"/>
                </a:lnTo>
                <a:lnTo>
                  <a:pt x="5486729" y="2863075"/>
                </a:lnTo>
                <a:lnTo>
                  <a:pt x="0" y="2863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79741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7841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35359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96066" y="3354740"/>
            <a:ext cx="12359548" cy="487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6"/>
              </a:lnSpc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•SQL (MySQL) → Data extraction &amp; querying</a:t>
            </a:r>
          </a:p>
          <a:p>
            <a:pPr algn="just">
              <a:lnSpc>
                <a:spcPts val="4306"/>
              </a:lnSpc>
            </a:pPr>
          </a:p>
          <a:p>
            <a:pPr algn="just">
              <a:lnSpc>
                <a:spcPts val="4306"/>
              </a:lnSpc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•Python (Pandas, Matplotlib) → Data analysis &amp; visualization</a:t>
            </a:r>
          </a:p>
          <a:p>
            <a:pPr algn="just">
              <a:lnSpc>
                <a:spcPts val="4306"/>
              </a:lnSpc>
            </a:pPr>
          </a:p>
          <a:p>
            <a:pPr algn="just">
              <a:lnSpc>
                <a:spcPts val="4306"/>
              </a:lnSpc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•Google Colab → Implementation</a:t>
            </a:r>
          </a:p>
          <a:p>
            <a:pPr algn="just">
              <a:lnSpc>
                <a:spcPts val="4306"/>
              </a:lnSpc>
            </a:pPr>
          </a:p>
          <a:p>
            <a:pPr algn="just">
              <a:lnSpc>
                <a:spcPts val="4306"/>
              </a:lnSpc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•Structured workflow: Data Cleaning → Analysis → Visualization → Insights</a:t>
            </a:r>
          </a:p>
          <a:p>
            <a:pPr algn="just">
              <a:lnSpc>
                <a:spcPts val="430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150159" y="1595523"/>
            <a:ext cx="9987683" cy="155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b="true" sz="9129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TOOLS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7423925"/>
            <a:ext cx="5486729" cy="2863075"/>
          </a:xfrm>
          <a:custGeom>
            <a:avLst/>
            <a:gdLst/>
            <a:ahLst/>
            <a:cxnLst/>
            <a:rect r="r" b="b" t="t" l="l"/>
            <a:pathLst>
              <a:path h="2863075" w="5486729">
                <a:moveTo>
                  <a:pt x="0" y="0"/>
                </a:moveTo>
                <a:lnTo>
                  <a:pt x="5486729" y="0"/>
                </a:lnTo>
                <a:lnTo>
                  <a:pt x="5486729" y="2863075"/>
                </a:lnTo>
                <a:lnTo>
                  <a:pt x="0" y="28630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06469" y="3071657"/>
            <a:ext cx="6252831" cy="1372024"/>
          </a:xfrm>
          <a:custGeom>
            <a:avLst/>
            <a:gdLst/>
            <a:ahLst/>
            <a:cxnLst/>
            <a:rect r="r" b="b" t="t" l="l"/>
            <a:pathLst>
              <a:path h="1372024" w="6252831">
                <a:moveTo>
                  <a:pt x="0" y="0"/>
                </a:moveTo>
                <a:lnTo>
                  <a:pt x="6252831" y="0"/>
                </a:lnTo>
                <a:lnTo>
                  <a:pt x="6252831" y="1372024"/>
                </a:lnTo>
                <a:lnTo>
                  <a:pt x="0" y="137202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70278" y="3071657"/>
            <a:ext cx="7994047" cy="935888"/>
          </a:xfrm>
          <a:custGeom>
            <a:avLst/>
            <a:gdLst/>
            <a:ahLst/>
            <a:cxnLst/>
            <a:rect r="r" b="b" t="t" l="l"/>
            <a:pathLst>
              <a:path h="935888" w="7994047">
                <a:moveTo>
                  <a:pt x="0" y="0"/>
                </a:moveTo>
                <a:lnTo>
                  <a:pt x="7994047" y="0"/>
                </a:lnTo>
                <a:lnTo>
                  <a:pt x="7994047" y="935888"/>
                </a:lnTo>
                <a:lnTo>
                  <a:pt x="0" y="9358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23108" y="5613733"/>
            <a:ext cx="4582474" cy="4467912"/>
          </a:xfrm>
          <a:custGeom>
            <a:avLst/>
            <a:gdLst/>
            <a:ahLst/>
            <a:cxnLst/>
            <a:rect r="r" b="b" t="t" l="l"/>
            <a:pathLst>
              <a:path h="4467912" w="4582474">
                <a:moveTo>
                  <a:pt x="0" y="0"/>
                </a:moveTo>
                <a:lnTo>
                  <a:pt x="4582474" y="0"/>
                </a:lnTo>
                <a:lnTo>
                  <a:pt x="4582474" y="4467912"/>
                </a:lnTo>
                <a:lnTo>
                  <a:pt x="0" y="44679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0278" y="5716177"/>
            <a:ext cx="7994047" cy="854273"/>
          </a:xfrm>
          <a:custGeom>
            <a:avLst/>
            <a:gdLst/>
            <a:ahLst/>
            <a:cxnLst/>
            <a:rect r="r" b="b" t="t" l="l"/>
            <a:pathLst>
              <a:path h="854273" w="7994047">
                <a:moveTo>
                  <a:pt x="0" y="0"/>
                </a:moveTo>
                <a:lnTo>
                  <a:pt x="7994047" y="0"/>
                </a:lnTo>
                <a:lnTo>
                  <a:pt x="7994047" y="854273"/>
                </a:lnTo>
                <a:lnTo>
                  <a:pt x="0" y="8542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5710" t="0" r="-298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14800" y="4727287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97673" y="4727287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0948" y="2086830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5633" y="2086830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52138" y="721003"/>
            <a:ext cx="150238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Q1. UNIQUE CITIES WHWRE CUSTOMERS ARE LOCATED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4471" y="3528857"/>
            <a:ext cx="9474000" cy="1325972"/>
          </a:xfrm>
          <a:custGeom>
            <a:avLst/>
            <a:gdLst/>
            <a:ahLst/>
            <a:cxnLst/>
            <a:rect r="r" b="b" t="t" l="l"/>
            <a:pathLst>
              <a:path h="1325972" w="9474000">
                <a:moveTo>
                  <a:pt x="0" y="0"/>
                </a:moveTo>
                <a:lnTo>
                  <a:pt x="9474001" y="0"/>
                </a:lnTo>
                <a:lnTo>
                  <a:pt x="9474001" y="1325972"/>
                </a:lnTo>
                <a:lnTo>
                  <a:pt x="0" y="13259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5255" r="0" b="-191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91094" y="3472110"/>
            <a:ext cx="7164212" cy="1671390"/>
          </a:xfrm>
          <a:custGeom>
            <a:avLst/>
            <a:gdLst/>
            <a:ahLst/>
            <a:cxnLst/>
            <a:rect r="r" b="b" t="t" l="l"/>
            <a:pathLst>
              <a:path h="1671390" w="7164212">
                <a:moveTo>
                  <a:pt x="0" y="0"/>
                </a:moveTo>
                <a:lnTo>
                  <a:pt x="7164212" y="0"/>
                </a:lnTo>
                <a:lnTo>
                  <a:pt x="7164212" y="1671390"/>
                </a:lnTo>
                <a:lnTo>
                  <a:pt x="0" y="167139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926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15817" y="6654777"/>
            <a:ext cx="6839488" cy="2468604"/>
          </a:xfrm>
          <a:custGeom>
            <a:avLst/>
            <a:gdLst/>
            <a:ahLst/>
            <a:cxnLst/>
            <a:rect r="r" b="b" t="t" l="l"/>
            <a:pathLst>
              <a:path h="2468604" w="6839488">
                <a:moveTo>
                  <a:pt x="0" y="0"/>
                </a:moveTo>
                <a:lnTo>
                  <a:pt x="6839489" y="0"/>
                </a:lnTo>
                <a:lnTo>
                  <a:pt x="6839489" y="2468604"/>
                </a:lnTo>
                <a:lnTo>
                  <a:pt x="0" y="24686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2910" r="0" b="-2291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52138" y="6654777"/>
            <a:ext cx="6405651" cy="2219399"/>
          </a:xfrm>
          <a:custGeom>
            <a:avLst/>
            <a:gdLst/>
            <a:ahLst/>
            <a:cxnLst/>
            <a:rect r="r" b="b" t="t" l="l"/>
            <a:pathLst>
              <a:path h="2219399" w="6405651">
                <a:moveTo>
                  <a:pt x="0" y="0"/>
                </a:moveTo>
                <a:lnTo>
                  <a:pt x="6405651" y="0"/>
                </a:lnTo>
                <a:lnTo>
                  <a:pt x="6405651" y="2219399"/>
                </a:lnTo>
                <a:lnTo>
                  <a:pt x="0" y="221939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2876" r="-11888" b="-154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1757" y="5727100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6528" y="5774017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0948" y="2086830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5633" y="2086830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35457" y="612487"/>
            <a:ext cx="150238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Q2. COUNT OF NO. OF ORDERS PLACED IN 2017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20235" y="2590045"/>
            <a:ext cx="6455747" cy="3187625"/>
          </a:xfrm>
          <a:custGeom>
            <a:avLst/>
            <a:gdLst/>
            <a:ahLst/>
            <a:cxnLst/>
            <a:rect r="r" b="b" t="t" l="l"/>
            <a:pathLst>
              <a:path h="3187625" w="6455747">
                <a:moveTo>
                  <a:pt x="0" y="0"/>
                </a:moveTo>
                <a:lnTo>
                  <a:pt x="6455746" y="0"/>
                </a:lnTo>
                <a:lnTo>
                  <a:pt x="6455746" y="3187626"/>
                </a:lnTo>
                <a:lnTo>
                  <a:pt x="0" y="3187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0561" y="2898420"/>
            <a:ext cx="9253499" cy="1285439"/>
          </a:xfrm>
          <a:custGeom>
            <a:avLst/>
            <a:gdLst/>
            <a:ahLst/>
            <a:cxnLst/>
            <a:rect r="r" b="b" t="t" l="l"/>
            <a:pathLst>
              <a:path h="1285439" w="9253499">
                <a:moveTo>
                  <a:pt x="0" y="0"/>
                </a:moveTo>
                <a:lnTo>
                  <a:pt x="9253499" y="0"/>
                </a:lnTo>
                <a:lnTo>
                  <a:pt x="9253499" y="1285438"/>
                </a:lnTo>
                <a:lnTo>
                  <a:pt x="0" y="12854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475" t="-10784" r="-447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8457" y="6512213"/>
            <a:ext cx="6194457" cy="3640659"/>
          </a:xfrm>
          <a:custGeom>
            <a:avLst/>
            <a:gdLst/>
            <a:ahLst/>
            <a:cxnLst/>
            <a:rect r="r" b="b" t="t" l="l"/>
            <a:pathLst>
              <a:path h="3640659" w="6194457">
                <a:moveTo>
                  <a:pt x="0" y="0"/>
                </a:moveTo>
                <a:lnTo>
                  <a:pt x="6194457" y="0"/>
                </a:lnTo>
                <a:lnTo>
                  <a:pt x="6194457" y="3640659"/>
                </a:lnTo>
                <a:lnTo>
                  <a:pt x="0" y="36406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644" t="-20317" r="0" b="-99508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920235" y="6724398"/>
            <a:ext cx="6339065" cy="3419423"/>
          </a:xfrm>
          <a:custGeom>
            <a:avLst/>
            <a:gdLst/>
            <a:ahLst/>
            <a:cxnLst/>
            <a:rect r="r" b="b" t="t" l="l"/>
            <a:pathLst>
              <a:path h="3419423" w="6339065">
                <a:moveTo>
                  <a:pt x="0" y="0"/>
                </a:moveTo>
                <a:lnTo>
                  <a:pt x="6339065" y="0"/>
                </a:lnTo>
                <a:lnTo>
                  <a:pt x="6339065" y="3419423"/>
                </a:lnTo>
                <a:lnTo>
                  <a:pt x="0" y="34194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9995" r="0" b="-999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1757" y="5727100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68557" y="5834821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70404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5633" y="170404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7561" y="519191"/>
            <a:ext cx="150238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Q3. TOTAL SALES PER CATEGORY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4882" y="2460270"/>
            <a:ext cx="9627093" cy="2108022"/>
          </a:xfrm>
          <a:custGeom>
            <a:avLst/>
            <a:gdLst/>
            <a:ahLst/>
            <a:cxnLst/>
            <a:rect r="r" b="b" t="t" l="l"/>
            <a:pathLst>
              <a:path h="2108022" w="9627093">
                <a:moveTo>
                  <a:pt x="0" y="0"/>
                </a:moveTo>
                <a:lnTo>
                  <a:pt x="9627093" y="0"/>
                </a:lnTo>
                <a:lnTo>
                  <a:pt x="9627093" y="2108021"/>
                </a:lnTo>
                <a:lnTo>
                  <a:pt x="0" y="210802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364" t="-450" r="0" b="-45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37110" y="2462514"/>
            <a:ext cx="7354470" cy="1654570"/>
          </a:xfrm>
          <a:custGeom>
            <a:avLst/>
            <a:gdLst/>
            <a:ahLst/>
            <a:cxnLst/>
            <a:rect r="r" b="b" t="t" l="l"/>
            <a:pathLst>
              <a:path h="1654570" w="7354470">
                <a:moveTo>
                  <a:pt x="0" y="0"/>
                </a:moveTo>
                <a:lnTo>
                  <a:pt x="7354470" y="0"/>
                </a:lnTo>
                <a:lnTo>
                  <a:pt x="7354470" y="1654570"/>
                </a:lnTo>
                <a:lnTo>
                  <a:pt x="0" y="16545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578" r="0" b="-93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4882" y="6736280"/>
            <a:ext cx="9627093" cy="1548562"/>
          </a:xfrm>
          <a:custGeom>
            <a:avLst/>
            <a:gdLst/>
            <a:ahLst/>
            <a:cxnLst/>
            <a:rect r="r" b="b" t="t" l="l"/>
            <a:pathLst>
              <a:path h="1548562" w="9627093">
                <a:moveTo>
                  <a:pt x="0" y="0"/>
                </a:moveTo>
                <a:lnTo>
                  <a:pt x="9627093" y="0"/>
                </a:lnTo>
                <a:lnTo>
                  <a:pt x="9627093" y="1548562"/>
                </a:lnTo>
                <a:lnTo>
                  <a:pt x="0" y="15485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416" r="-459" b="-2416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19602" y="6587020"/>
            <a:ext cx="6107197" cy="1847081"/>
          </a:xfrm>
          <a:custGeom>
            <a:avLst/>
            <a:gdLst/>
            <a:ahLst/>
            <a:cxnLst/>
            <a:rect r="r" b="b" t="t" l="l"/>
            <a:pathLst>
              <a:path h="1847081" w="6107197">
                <a:moveTo>
                  <a:pt x="0" y="0"/>
                </a:moveTo>
                <a:lnTo>
                  <a:pt x="6107196" y="0"/>
                </a:lnTo>
                <a:lnTo>
                  <a:pt x="6107196" y="1847081"/>
                </a:lnTo>
                <a:lnTo>
                  <a:pt x="0" y="18470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5165" t="0" r="-3568" b="-2064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1757" y="5727100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68557" y="5834821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70404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5633" y="170404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7561" y="519191"/>
            <a:ext cx="150238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Q4. % OF ORDERS PLACED IN INSTALLMENTS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78659" y="2460270"/>
            <a:ext cx="10514615" cy="2014992"/>
          </a:xfrm>
          <a:custGeom>
            <a:avLst/>
            <a:gdLst/>
            <a:ahLst/>
            <a:cxnLst/>
            <a:rect r="r" b="b" t="t" l="l"/>
            <a:pathLst>
              <a:path h="2014992" w="10514615">
                <a:moveTo>
                  <a:pt x="0" y="0"/>
                </a:moveTo>
                <a:lnTo>
                  <a:pt x="10514615" y="0"/>
                </a:lnTo>
                <a:lnTo>
                  <a:pt x="10514615" y="2014992"/>
                </a:lnTo>
                <a:lnTo>
                  <a:pt x="0" y="20149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822" t="-1059" r="0" b="-105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68787" y="2460270"/>
            <a:ext cx="6720562" cy="2803051"/>
          </a:xfrm>
          <a:custGeom>
            <a:avLst/>
            <a:gdLst/>
            <a:ahLst/>
            <a:cxnLst/>
            <a:rect r="r" b="b" t="t" l="l"/>
            <a:pathLst>
              <a:path h="2803051" w="6720562">
                <a:moveTo>
                  <a:pt x="0" y="0"/>
                </a:moveTo>
                <a:lnTo>
                  <a:pt x="6720562" y="0"/>
                </a:lnTo>
                <a:lnTo>
                  <a:pt x="6720562" y="2803051"/>
                </a:lnTo>
                <a:lnTo>
                  <a:pt x="0" y="28030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6093" r="0" b="-775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68787" y="6494907"/>
            <a:ext cx="6720562" cy="3658189"/>
          </a:xfrm>
          <a:custGeom>
            <a:avLst/>
            <a:gdLst/>
            <a:ahLst/>
            <a:cxnLst/>
            <a:rect r="r" b="b" t="t" l="l"/>
            <a:pathLst>
              <a:path h="3658189" w="6720562">
                <a:moveTo>
                  <a:pt x="0" y="0"/>
                </a:moveTo>
                <a:lnTo>
                  <a:pt x="6720562" y="0"/>
                </a:lnTo>
                <a:lnTo>
                  <a:pt x="6720562" y="3658189"/>
                </a:lnTo>
                <a:lnTo>
                  <a:pt x="0" y="36581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975" r="0" b="-3265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90952" y="6477087"/>
            <a:ext cx="5475634" cy="3615509"/>
          </a:xfrm>
          <a:custGeom>
            <a:avLst/>
            <a:gdLst/>
            <a:ahLst/>
            <a:cxnLst/>
            <a:rect r="r" b="b" t="t" l="l"/>
            <a:pathLst>
              <a:path h="3615509" w="5475634">
                <a:moveTo>
                  <a:pt x="0" y="0"/>
                </a:moveTo>
                <a:lnTo>
                  <a:pt x="5475634" y="0"/>
                </a:lnTo>
                <a:lnTo>
                  <a:pt x="5475634" y="3615509"/>
                </a:lnTo>
                <a:lnTo>
                  <a:pt x="0" y="361550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0008" r="0" b="-13604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1757" y="5727100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68557" y="5834821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70404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5633" y="170404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7561" y="519191"/>
            <a:ext cx="150238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Q5. NO. OF CUSTOMERS FROM EACH STATE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179964" y="2404038"/>
            <a:ext cx="7986473" cy="2739462"/>
          </a:xfrm>
          <a:custGeom>
            <a:avLst/>
            <a:gdLst/>
            <a:ahLst/>
            <a:cxnLst/>
            <a:rect r="r" b="b" t="t" l="l"/>
            <a:pathLst>
              <a:path h="2739462" w="7986473">
                <a:moveTo>
                  <a:pt x="0" y="0"/>
                </a:moveTo>
                <a:lnTo>
                  <a:pt x="7986472" y="0"/>
                </a:lnTo>
                <a:lnTo>
                  <a:pt x="7986472" y="2739462"/>
                </a:lnTo>
                <a:lnTo>
                  <a:pt x="0" y="27394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7720" y="2460270"/>
            <a:ext cx="9706771" cy="1541110"/>
          </a:xfrm>
          <a:custGeom>
            <a:avLst/>
            <a:gdLst/>
            <a:ahLst/>
            <a:cxnLst/>
            <a:rect r="r" b="b" t="t" l="l"/>
            <a:pathLst>
              <a:path h="1541110" w="9706771">
                <a:moveTo>
                  <a:pt x="0" y="0"/>
                </a:moveTo>
                <a:lnTo>
                  <a:pt x="9706771" y="0"/>
                </a:lnTo>
                <a:lnTo>
                  <a:pt x="9706771" y="1541109"/>
                </a:lnTo>
                <a:lnTo>
                  <a:pt x="0" y="15411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537" r="0" b="-353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14757" y="6282684"/>
            <a:ext cx="4015843" cy="3828673"/>
          </a:xfrm>
          <a:custGeom>
            <a:avLst/>
            <a:gdLst/>
            <a:ahLst/>
            <a:cxnLst/>
            <a:rect r="r" b="b" t="t" l="l"/>
            <a:pathLst>
              <a:path h="3828673" w="4015843">
                <a:moveTo>
                  <a:pt x="0" y="0"/>
                </a:moveTo>
                <a:lnTo>
                  <a:pt x="4015843" y="0"/>
                </a:lnTo>
                <a:lnTo>
                  <a:pt x="4015843" y="3828673"/>
                </a:lnTo>
                <a:lnTo>
                  <a:pt x="0" y="382867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82" t="-2813" r="-4496" b="-418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266787" y="6315263"/>
            <a:ext cx="3816713" cy="3763514"/>
          </a:xfrm>
          <a:custGeom>
            <a:avLst/>
            <a:gdLst/>
            <a:ahLst/>
            <a:cxnLst/>
            <a:rect r="r" b="b" t="t" l="l"/>
            <a:pathLst>
              <a:path h="3763514" w="3816713">
                <a:moveTo>
                  <a:pt x="0" y="0"/>
                </a:moveTo>
                <a:lnTo>
                  <a:pt x="3816713" y="0"/>
                </a:lnTo>
                <a:lnTo>
                  <a:pt x="3816713" y="3763514"/>
                </a:lnTo>
                <a:lnTo>
                  <a:pt x="0" y="3763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9273" r="0" b="-1927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20639" y="5387086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85633" y="5387086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70404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685633" y="170404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7561" y="519191"/>
            <a:ext cx="150238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Q6. NO. OF ORDERS PLACED IN 2018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99023" y="2460270"/>
            <a:ext cx="5406563" cy="3577612"/>
          </a:xfrm>
          <a:custGeom>
            <a:avLst/>
            <a:gdLst/>
            <a:ahLst/>
            <a:cxnLst/>
            <a:rect r="r" b="b" t="t" l="l"/>
            <a:pathLst>
              <a:path h="3577612" w="5406563">
                <a:moveTo>
                  <a:pt x="0" y="0"/>
                </a:moveTo>
                <a:lnTo>
                  <a:pt x="5406563" y="0"/>
                </a:lnTo>
                <a:lnTo>
                  <a:pt x="5406563" y="3577612"/>
                </a:lnTo>
                <a:lnTo>
                  <a:pt x="0" y="3577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831" r="0" b="-83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8733" y="2452903"/>
            <a:ext cx="9777424" cy="1796172"/>
          </a:xfrm>
          <a:custGeom>
            <a:avLst/>
            <a:gdLst/>
            <a:ahLst/>
            <a:cxnLst/>
            <a:rect r="r" b="b" t="t" l="l"/>
            <a:pathLst>
              <a:path h="1796172" w="9777424">
                <a:moveTo>
                  <a:pt x="0" y="0"/>
                </a:moveTo>
                <a:lnTo>
                  <a:pt x="9777424" y="0"/>
                </a:lnTo>
                <a:lnTo>
                  <a:pt x="9777424" y="1796173"/>
                </a:lnTo>
                <a:lnTo>
                  <a:pt x="0" y="179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66787" y="6962710"/>
            <a:ext cx="3801035" cy="3059587"/>
          </a:xfrm>
          <a:custGeom>
            <a:avLst/>
            <a:gdLst/>
            <a:ahLst/>
            <a:cxnLst/>
            <a:rect r="r" b="b" t="t" l="l"/>
            <a:pathLst>
              <a:path h="3059587" w="3801035">
                <a:moveTo>
                  <a:pt x="0" y="0"/>
                </a:moveTo>
                <a:lnTo>
                  <a:pt x="3801035" y="0"/>
                </a:lnTo>
                <a:lnTo>
                  <a:pt x="3801035" y="3059587"/>
                </a:lnTo>
                <a:lnTo>
                  <a:pt x="0" y="30595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5282" r="0" b="-5608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63899" y="6962710"/>
            <a:ext cx="5418577" cy="3013791"/>
          </a:xfrm>
          <a:custGeom>
            <a:avLst/>
            <a:gdLst/>
            <a:ahLst/>
            <a:cxnLst/>
            <a:rect r="r" b="b" t="t" l="l"/>
            <a:pathLst>
              <a:path h="3013791" w="5418577">
                <a:moveTo>
                  <a:pt x="0" y="0"/>
                </a:moveTo>
                <a:lnTo>
                  <a:pt x="5418577" y="0"/>
                </a:lnTo>
                <a:lnTo>
                  <a:pt x="5418577" y="3013791"/>
                </a:lnTo>
                <a:lnTo>
                  <a:pt x="0" y="30137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20639" y="6206484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85633" y="6206484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57069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4475" y="157069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5476" y="415611"/>
            <a:ext cx="1654638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Q7. AVG NO. OF PRODUCTS PER ORDER BY CUSTOMER CITY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3861" y="2418486"/>
            <a:ext cx="8605091" cy="2791188"/>
          </a:xfrm>
          <a:custGeom>
            <a:avLst/>
            <a:gdLst/>
            <a:ahLst/>
            <a:cxnLst/>
            <a:rect r="r" b="b" t="t" l="l"/>
            <a:pathLst>
              <a:path h="2791188" w="8605091">
                <a:moveTo>
                  <a:pt x="0" y="0"/>
                </a:moveTo>
                <a:lnTo>
                  <a:pt x="8605090" y="0"/>
                </a:lnTo>
                <a:lnTo>
                  <a:pt x="8605090" y="2791188"/>
                </a:lnTo>
                <a:lnTo>
                  <a:pt x="0" y="2791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475950" y="2326920"/>
            <a:ext cx="4754650" cy="4432014"/>
          </a:xfrm>
          <a:custGeom>
            <a:avLst/>
            <a:gdLst/>
            <a:ahLst/>
            <a:cxnLst/>
            <a:rect r="r" b="b" t="t" l="l"/>
            <a:pathLst>
              <a:path h="4432014" w="4754650">
                <a:moveTo>
                  <a:pt x="0" y="0"/>
                </a:moveTo>
                <a:lnTo>
                  <a:pt x="4754650" y="0"/>
                </a:lnTo>
                <a:lnTo>
                  <a:pt x="4754650" y="4432014"/>
                </a:lnTo>
                <a:lnTo>
                  <a:pt x="0" y="44320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53" t="-7765" r="0" b="-132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651693" y="7438960"/>
            <a:ext cx="6593595" cy="2541953"/>
          </a:xfrm>
          <a:custGeom>
            <a:avLst/>
            <a:gdLst/>
            <a:ahLst/>
            <a:cxnLst/>
            <a:rect r="r" b="b" t="t" l="l"/>
            <a:pathLst>
              <a:path h="2541953" w="6593595">
                <a:moveTo>
                  <a:pt x="0" y="0"/>
                </a:moveTo>
                <a:lnTo>
                  <a:pt x="6593595" y="0"/>
                </a:lnTo>
                <a:lnTo>
                  <a:pt x="6593595" y="2541954"/>
                </a:lnTo>
                <a:lnTo>
                  <a:pt x="0" y="25419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690952" y="7438843"/>
            <a:ext cx="5336912" cy="2542071"/>
          </a:xfrm>
          <a:custGeom>
            <a:avLst/>
            <a:gdLst/>
            <a:ahLst/>
            <a:cxnLst/>
            <a:rect r="r" b="b" t="t" l="l"/>
            <a:pathLst>
              <a:path h="2542071" w="5336912">
                <a:moveTo>
                  <a:pt x="0" y="0"/>
                </a:moveTo>
                <a:lnTo>
                  <a:pt x="5336913" y="0"/>
                </a:lnTo>
                <a:lnTo>
                  <a:pt x="5336913" y="2542071"/>
                </a:lnTo>
                <a:lnTo>
                  <a:pt x="0" y="25420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8547" r="0" b="-10097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1757" y="6682734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41387" y="6682734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57069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4475" y="157069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5476" y="415611"/>
            <a:ext cx="1654638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Q8. REVENUE CONTRIBUTION OF EACH CATEGORY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3216" y="2440766"/>
            <a:ext cx="9175453" cy="3222878"/>
          </a:xfrm>
          <a:custGeom>
            <a:avLst/>
            <a:gdLst/>
            <a:ahLst/>
            <a:cxnLst/>
            <a:rect r="r" b="b" t="t" l="l"/>
            <a:pathLst>
              <a:path h="3222878" w="9175453">
                <a:moveTo>
                  <a:pt x="0" y="0"/>
                </a:moveTo>
                <a:lnTo>
                  <a:pt x="9175453" y="0"/>
                </a:lnTo>
                <a:lnTo>
                  <a:pt x="9175453" y="3222878"/>
                </a:lnTo>
                <a:lnTo>
                  <a:pt x="0" y="32228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40917" y="2440766"/>
            <a:ext cx="7550945" cy="4541154"/>
          </a:xfrm>
          <a:custGeom>
            <a:avLst/>
            <a:gdLst/>
            <a:ahLst/>
            <a:cxnLst/>
            <a:rect r="r" b="b" t="t" l="l"/>
            <a:pathLst>
              <a:path h="4541154" w="7550945">
                <a:moveTo>
                  <a:pt x="0" y="0"/>
                </a:moveTo>
                <a:lnTo>
                  <a:pt x="7550945" y="0"/>
                </a:lnTo>
                <a:lnTo>
                  <a:pt x="7550945" y="4541154"/>
                </a:lnTo>
                <a:lnTo>
                  <a:pt x="0" y="45411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211" r="0" b="-121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80237" y="8591485"/>
            <a:ext cx="4250363" cy="1142168"/>
          </a:xfrm>
          <a:custGeom>
            <a:avLst/>
            <a:gdLst/>
            <a:ahLst/>
            <a:cxnLst/>
            <a:rect r="r" b="b" t="t" l="l"/>
            <a:pathLst>
              <a:path h="1142168" w="4250363">
                <a:moveTo>
                  <a:pt x="0" y="0"/>
                </a:moveTo>
                <a:lnTo>
                  <a:pt x="4250363" y="0"/>
                </a:lnTo>
                <a:lnTo>
                  <a:pt x="4250363" y="1142169"/>
                </a:lnTo>
                <a:lnTo>
                  <a:pt x="0" y="11421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745528" y="8753971"/>
            <a:ext cx="4983565" cy="817197"/>
          </a:xfrm>
          <a:custGeom>
            <a:avLst/>
            <a:gdLst/>
            <a:ahLst/>
            <a:cxnLst/>
            <a:rect r="r" b="b" t="t" l="l"/>
            <a:pathLst>
              <a:path h="817197" w="4983565">
                <a:moveTo>
                  <a:pt x="0" y="0"/>
                </a:moveTo>
                <a:lnTo>
                  <a:pt x="4983565" y="0"/>
                </a:lnTo>
                <a:lnTo>
                  <a:pt x="4983565" y="817197"/>
                </a:lnTo>
                <a:lnTo>
                  <a:pt x="0" y="8171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20639" y="7362760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24973" y="7362760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57069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4475" y="157069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29" y="466557"/>
            <a:ext cx="18161342" cy="133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b="true" sz="385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Q9.  CORELATION : PRODUCT PRICE VS PURCHASE FREQUENCY</a:t>
            </a:r>
          </a:p>
          <a:p>
            <a:pPr algn="ctr">
              <a:lnSpc>
                <a:spcPts val="53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3791" y="2482956"/>
            <a:ext cx="9167039" cy="1888508"/>
          </a:xfrm>
          <a:custGeom>
            <a:avLst/>
            <a:gdLst/>
            <a:ahLst/>
            <a:cxnLst/>
            <a:rect r="r" b="b" t="t" l="l"/>
            <a:pathLst>
              <a:path h="1888508" w="9167039">
                <a:moveTo>
                  <a:pt x="0" y="0"/>
                </a:moveTo>
                <a:lnTo>
                  <a:pt x="9167039" y="0"/>
                </a:lnTo>
                <a:lnTo>
                  <a:pt x="9167039" y="1888508"/>
                </a:lnTo>
                <a:lnTo>
                  <a:pt x="0" y="18885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154" t="0" r="-215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75467" y="2443947"/>
            <a:ext cx="6332356" cy="1966526"/>
          </a:xfrm>
          <a:custGeom>
            <a:avLst/>
            <a:gdLst/>
            <a:ahLst/>
            <a:cxnLst/>
            <a:rect r="r" b="b" t="t" l="l"/>
            <a:pathLst>
              <a:path h="1966526" w="6332356">
                <a:moveTo>
                  <a:pt x="0" y="0"/>
                </a:moveTo>
                <a:lnTo>
                  <a:pt x="6332356" y="0"/>
                </a:lnTo>
                <a:lnTo>
                  <a:pt x="6332356" y="1966526"/>
                </a:lnTo>
                <a:lnTo>
                  <a:pt x="0" y="19665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1890" r="0" b="-15306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12179" y="6143313"/>
            <a:ext cx="4982825" cy="3957972"/>
          </a:xfrm>
          <a:custGeom>
            <a:avLst/>
            <a:gdLst/>
            <a:ahLst/>
            <a:cxnLst/>
            <a:rect r="r" b="b" t="t" l="l"/>
            <a:pathLst>
              <a:path h="3957972" w="4982825">
                <a:moveTo>
                  <a:pt x="0" y="0"/>
                </a:moveTo>
                <a:lnTo>
                  <a:pt x="4982825" y="0"/>
                </a:lnTo>
                <a:lnTo>
                  <a:pt x="4982825" y="3957972"/>
                </a:lnTo>
                <a:lnTo>
                  <a:pt x="0" y="39579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683" r="0" b="-1683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611672" y="6257613"/>
            <a:ext cx="6459945" cy="2649567"/>
          </a:xfrm>
          <a:custGeom>
            <a:avLst/>
            <a:gdLst/>
            <a:ahLst/>
            <a:cxnLst/>
            <a:rect r="r" b="b" t="t" l="l"/>
            <a:pathLst>
              <a:path h="2649567" w="6459945">
                <a:moveTo>
                  <a:pt x="0" y="0"/>
                </a:moveTo>
                <a:lnTo>
                  <a:pt x="6459946" y="0"/>
                </a:lnTo>
                <a:lnTo>
                  <a:pt x="6459946" y="2649567"/>
                </a:lnTo>
                <a:lnTo>
                  <a:pt x="0" y="26495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142" r="0" b="-475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20639" y="5387086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40892" y="5387086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57069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4475" y="157069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29" y="466557"/>
            <a:ext cx="18161342" cy="65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Q10. REVENUE BY SELLER AND RANKING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1477" y="7906781"/>
            <a:ext cx="8197372" cy="1999454"/>
          </a:xfrm>
          <a:custGeom>
            <a:avLst/>
            <a:gdLst/>
            <a:ahLst/>
            <a:cxnLst/>
            <a:rect r="r" b="b" t="t" l="l"/>
            <a:pathLst>
              <a:path h="1999454" w="8197372">
                <a:moveTo>
                  <a:pt x="0" y="0"/>
                </a:moveTo>
                <a:lnTo>
                  <a:pt x="8197372" y="0"/>
                </a:lnTo>
                <a:lnTo>
                  <a:pt x="8197372" y="1999454"/>
                </a:lnTo>
                <a:lnTo>
                  <a:pt x="0" y="19994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1214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144747" y="7999951"/>
            <a:ext cx="8056905" cy="1037327"/>
          </a:xfrm>
          <a:custGeom>
            <a:avLst/>
            <a:gdLst/>
            <a:ahLst/>
            <a:cxnLst/>
            <a:rect r="r" b="b" t="t" l="l"/>
            <a:pathLst>
              <a:path h="1037327" w="8056905">
                <a:moveTo>
                  <a:pt x="0" y="0"/>
                </a:moveTo>
                <a:lnTo>
                  <a:pt x="8056906" y="0"/>
                </a:lnTo>
                <a:lnTo>
                  <a:pt x="8056906" y="1037326"/>
                </a:lnTo>
                <a:lnTo>
                  <a:pt x="0" y="103732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5927" y="1986906"/>
            <a:ext cx="7842767" cy="4539001"/>
          </a:xfrm>
          <a:custGeom>
            <a:avLst/>
            <a:gdLst/>
            <a:ahLst/>
            <a:cxnLst/>
            <a:rect r="r" b="b" t="t" l="l"/>
            <a:pathLst>
              <a:path h="4539001" w="7842767">
                <a:moveTo>
                  <a:pt x="0" y="0"/>
                </a:moveTo>
                <a:lnTo>
                  <a:pt x="7842767" y="0"/>
                </a:lnTo>
                <a:lnTo>
                  <a:pt x="7842767" y="4539001"/>
                </a:lnTo>
                <a:lnTo>
                  <a:pt x="0" y="45390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78243" y="1985330"/>
            <a:ext cx="4924416" cy="5148253"/>
          </a:xfrm>
          <a:custGeom>
            <a:avLst/>
            <a:gdLst/>
            <a:ahLst/>
            <a:cxnLst/>
            <a:rect r="r" b="b" t="t" l="l"/>
            <a:pathLst>
              <a:path h="5148253" w="4924416">
                <a:moveTo>
                  <a:pt x="0" y="0"/>
                </a:moveTo>
                <a:lnTo>
                  <a:pt x="4924417" y="0"/>
                </a:lnTo>
                <a:lnTo>
                  <a:pt x="4924417" y="5148254"/>
                </a:lnTo>
                <a:lnTo>
                  <a:pt x="0" y="5148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51708" y="7160761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34286" y="7150554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87" y="1230679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11739" y="1269276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311" y="9442"/>
            <a:ext cx="18161342" cy="133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Q11.MOVING AVERAGE OF ORDER VALUES FOR EACH CUSTOMER OVER THEIR ORDER HISTORY.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324058" y="2357557"/>
            <a:ext cx="4685315" cy="3955764"/>
          </a:xfrm>
          <a:custGeom>
            <a:avLst/>
            <a:gdLst/>
            <a:ahLst/>
            <a:cxnLst/>
            <a:rect r="r" b="b" t="t" l="l"/>
            <a:pathLst>
              <a:path h="3955764" w="4685315">
                <a:moveTo>
                  <a:pt x="0" y="0"/>
                </a:moveTo>
                <a:lnTo>
                  <a:pt x="4685315" y="0"/>
                </a:lnTo>
                <a:lnTo>
                  <a:pt x="4685315" y="3955764"/>
                </a:lnTo>
                <a:lnTo>
                  <a:pt x="0" y="39557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78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935072" y="7476206"/>
            <a:ext cx="7905740" cy="2194945"/>
          </a:xfrm>
          <a:custGeom>
            <a:avLst/>
            <a:gdLst/>
            <a:ahLst/>
            <a:cxnLst/>
            <a:rect r="r" b="b" t="t" l="l"/>
            <a:pathLst>
              <a:path h="2194945" w="7905740">
                <a:moveTo>
                  <a:pt x="0" y="0"/>
                </a:moveTo>
                <a:lnTo>
                  <a:pt x="7905741" y="0"/>
                </a:lnTo>
                <a:lnTo>
                  <a:pt x="7905741" y="2194945"/>
                </a:lnTo>
                <a:lnTo>
                  <a:pt x="0" y="219494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831" t="0" r="-509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5476" y="2359540"/>
            <a:ext cx="7603425" cy="3953781"/>
          </a:xfrm>
          <a:custGeom>
            <a:avLst/>
            <a:gdLst/>
            <a:ahLst/>
            <a:cxnLst/>
            <a:rect r="r" b="b" t="t" l="l"/>
            <a:pathLst>
              <a:path h="3953781" w="7603425">
                <a:moveTo>
                  <a:pt x="0" y="0"/>
                </a:moveTo>
                <a:lnTo>
                  <a:pt x="7603425" y="0"/>
                </a:lnTo>
                <a:lnTo>
                  <a:pt x="7603425" y="3953781"/>
                </a:lnTo>
                <a:lnTo>
                  <a:pt x="0" y="395378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300525" y="7476206"/>
            <a:ext cx="4852664" cy="2396483"/>
          </a:xfrm>
          <a:custGeom>
            <a:avLst/>
            <a:gdLst/>
            <a:ahLst/>
            <a:cxnLst/>
            <a:rect r="r" b="b" t="t" l="l"/>
            <a:pathLst>
              <a:path h="2396483" w="4852664">
                <a:moveTo>
                  <a:pt x="0" y="0"/>
                </a:moveTo>
                <a:lnTo>
                  <a:pt x="4852664" y="0"/>
                </a:lnTo>
                <a:lnTo>
                  <a:pt x="4852664" y="2396482"/>
                </a:lnTo>
                <a:lnTo>
                  <a:pt x="0" y="23964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64996" y="6480734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71271" y="6480734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64996" y="1570693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4475" y="1570693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29" y="466557"/>
            <a:ext cx="18161342" cy="65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Q12. COMULATIVE SALES PER MONTH OF EACH YEAR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19912" y="2192283"/>
            <a:ext cx="4869029" cy="4280962"/>
          </a:xfrm>
          <a:custGeom>
            <a:avLst/>
            <a:gdLst/>
            <a:ahLst/>
            <a:cxnLst/>
            <a:rect r="r" b="b" t="t" l="l"/>
            <a:pathLst>
              <a:path h="4280962" w="4869029">
                <a:moveTo>
                  <a:pt x="0" y="0"/>
                </a:moveTo>
                <a:lnTo>
                  <a:pt x="4869029" y="0"/>
                </a:lnTo>
                <a:lnTo>
                  <a:pt x="4869029" y="4280962"/>
                </a:lnTo>
                <a:lnTo>
                  <a:pt x="0" y="4280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2377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82292" y="7802938"/>
            <a:ext cx="6847289" cy="1455362"/>
          </a:xfrm>
          <a:custGeom>
            <a:avLst/>
            <a:gdLst/>
            <a:ahLst/>
            <a:cxnLst/>
            <a:rect r="r" b="b" t="t" l="l"/>
            <a:pathLst>
              <a:path h="1455362" w="6847289">
                <a:moveTo>
                  <a:pt x="0" y="0"/>
                </a:moveTo>
                <a:lnTo>
                  <a:pt x="6847289" y="0"/>
                </a:lnTo>
                <a:lnTo>
                  <a:pt x="6847289" y="1455362"/>
                </a:lnTo>
                <a:lnTo>
                  <a:pt x="0" y="145536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169" t="-3927" r="-1292" b="-392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5476" y="2192283"/>
            <a:ext cx="7158239" cy="4515801"/>
          </a:xfrm>
          <a:custGeom>
            <a:avLst/>
            <a:gdLst/>
            <a:ahLst/>
            <a:cxnLst/>
            <a:rect r="r" b="b" t="t" l="l"/>
            <a:pathLst>
              <a:path h="4515801" w="7158239">
                <a:moveTo>
                  <a:pt x="0" y="0"/>
                </a:moveTo>
                <a:lnTo>
                  <a:pt x="7158239" y="0"/>
                </a:lnTo>
                <a:lnTo>
                  <a:pt x="7158239" y="4515801"/>
                </a:lnTo>
                <a:lnTo>
                  <a:pt x="0" y="45158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625" r="0" b="-62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2127" y="7576974"/>
            <a:ext cx="7644938" cy="1971623"/>
          </a:xfrm>
          <a:custGeom>
            <a:avLst/>
            <a:gdLst/>
            <a:ahLst/>
            <a:cxnLst/>
            <a:rect r="r" b="b" t="t" l="l"/>
            <a:pathLst>
              <a:path h="1971623" w="7644938">
                <a:moveTo>
                  <a:pt x="0" y="0"/>
                </a:moveTo>
                <a:lnTo>
                  <a:pt x="7644937" y="0"/>
                </a:lnTo>
                <a:lnTo>
                  <a:pt x="7644937" y="1971623"/>
                </a:lnTo>
                <a:lnTo>
                  <a:pt x="0" y="19716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651" r="-1840" b="-265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281757" y="6820747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37755" y="6798249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94038" y="1269276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4475" y="1269276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29" y="466557"/>
            <a:ext cx="18161342" cy="65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Q13 . YEAR ON YEAR GROWTH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954195"/>
            <a:ext cx="8854017" cy="5697916"/>
          </a:xfrm>
          <a:custGeom>
            <a:avLst/>
            <a:gdLst/>
            <a:ahLst/>
            <a:cxnLst/>
            <a:rect r="r" b="b" t="t" l="l"/>
            <a:pathLst>
              <a:path h="5697916" w="8854017">
                <a:moveTo>
                  <a:pt x="0" y="0"/>
                </a:moveTo>
                <a:lnTo>
                  <a:pt x="8854017" y="0"/>
                </a:lnTo>
                <a:lnTo>
                  <a:pt x="8854017" y="5697916"/>
                </a:lnTo>
                <a:lnTo>
                  <a:pt x="0" y="56979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72" t="0" r="-57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33578" y="1954195"/>
            <a:ext cx="6644624" cy="5842534"/>
          </a:xfrm>
          <a:custGeom>
            <a:avLst/>
            <a:gdLst/>
            <a:ahLst/>
            <a:cxnLst/>
            <a:rect r="r" b="b" t="t" l="l"/>
            <a:pathLst>
              <a:path h="5842534" w="6644624">
                <a:moveTo>
                  <a:pt x="0" y="0"/>
                </a:moveTo>
                <a:lnTo>
                  <a:pt x="6644625" y="0"/>
                </a:lnTo>
                <a:lnTo>
                  <a:pt x="6644625" y="5842535"/>
                </a:lnTo>
                <a:lnTo>
                  <a:pt x="0" y="58425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674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60700" y="9258300"/>
            <a:ext cx="3930705" cy="831895"/>
          </a:xfrm>
          <a:custGeom>
            <a:avLst/>
            <a:gdLst/>
            <a:ahLst/>
            <a:cxnLst/>
            <a:rect r="r" b="b" t="t" l="l"/>
            <a:pathLst>
              <a:path h="831895" w="3930705">
                <a:moveTo>
                  <a:pt x="0" y="0"/>
                </a:moveTo>
                <a:lnTo>
                  <a:pt x="3930705" y="0"/>
                </a:lnTo>
                <a:lnTo>
                  <a:pt x="3930705" y="831895"/>
                </a:lnTo>
                <a:lnTo>
                  <a:pt x="0" y="8318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843994" y="8985336"/>
            <a:ext cx="3357906" cy="1104860"/>
          </a:xfrm>
          <a:custGeom>
            <a:avLst/>
            <a:gdLst/>
            <a:ahLst/>
            <a:cxnLst/>
            <a:rect r="r" b="b" t="t" l="l"/>
            <a:pathLst>
              <a:path h="1104860" w="3357906">
                <a:moveTo>
                  <a:pt x="0" y="0"/>
                </a:moveTo>
                <a:lnTo>
                  <a:pt x="3357906" y="0"/>
                </a:lnTo>
                <a:lnTo>
                  <a:pt x="3357906" y="1104859"/>
                </a:lnTo>
                <a:lnTo>
                  <a:pt x="0" y="11048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09381" y="7907788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01550" y="7907788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90952" y="969368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4475" y="1269276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329" y="466557"/>
            <a:ext cx="18161342" cy="652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  <a:spcBef>
                <a:spcPct val="0"/>
              </a:spcBef>
            </a:pPr>
            <a:r>
              <a:rPr lang="en-US" b="true" sz="385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Q14. CUSTOMER RETENTION RATE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73200" y="61722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6282684"/>
            <a:ext cx="7673777" cy="4004316"/>
          </a:xfrm>
          <a:custGeom>
            <a:avLst/>
            <a:gdLst/>
            <a:ahLst/>
            <a:cxnLst/>
            <a:rect r="r" b="b" t="t" l="l"/>
            <a:pathLst>
              <a:path h="4004316" w="7673777">
                <a:moveTo>
                  <a:pt x="0" y="0"/>
                </a:moveTo>
                <a:lnTo>
                  <a:pt x="7673777" y="0"/>
                </a:lnTo>
                <a:lnTo>
                  <a:pt x="7673777" y="4004316"/>
                </a:lnTo>
                <a:lnTo>
                  <a:pt x="0" y="40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236961"/>
            <a:ext cx="2174081" cy="2174081"/>
          </a:xfrm>
          <a:custGeom>
            <a:avLst/>
            <a:gdLst/>
            <a:ahLst/>
            <a:cxnLst/>
            <a:rect r="r" b="b" t="t" l="l"/>
            <a:pathLst>
              <a:path h="2174081" w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0"/>
            <a:ext cx="2690952" cy="1345476"/>
          </a:xfrm>
          <a:custGeom>
            <a:avLst/>
            <a:gdLst/>
            <a:ahLst/>
            <a:cxnLst/>
            <a:rect r="r" b="b" t="t" l="l"/>
            <a:pathLst>
              <a:path h="1345476" w="2690952">
                <a:moveTo>
                  <a:pt x="0" y="0"/>
                </a:moveTo>
                <a:lnTo>
                  <a:pt x="2690952" y="0"/>
                </a:lnTo>
                <a:lnTo>
                  <a:pt x="2690952" y="1345476"/>
                </a:lnTo>
                <a:lnTo>
                  <a:pt x="0" y="13454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91069" y="2254103"/>
            <a:ext cx="5468872" cy="4367010"/>
          </a:xfrm>
          <a:custGeom>
            <a:avLst/>
            <a:gdLst/>
            <a:ahLst/>
            <a:cxnLst/>
            <a:rect r="r" b="b" t="t" l="l"/>
            <a:pathLst>
              <a:path h="4367010" w="5468872">
                <a:moveTo>
                  <a:pt x="0" y="0"/>
                </a:moveTo>
                <a:lnTo>
                  <a:pt x="5468872" y="0"/>
                </a:lnTo>
                <a:lnTo>
                  <a:pt x="5468872" y="4367010"/>
                </a:lnTo>
                <a:lnTo>
                  <a:pt x="0" y="4367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6396" y="2254103"/>
            <a:ext cx="9632562" cy="2119164"/>
          </a:xfrm>
          <a:custGeom>
            <a:avLst/>
            <a:gdLst/>
            <a:ahLst/>
            <a:cxnLst/>
            <a:rect r="r" b="b" t="t" l="l"/>
            <a:pathLst>
              <a:path h="2119164" w="9632562">
                <a:moveTo>
                  <a:pt x="0" y="0"/>
                </a:moveTo>
                <a:lnTo>
                  <a:pt x="9632562" y="0"/>
                </a:lnTo>
                <a:lnTo>
                  <a:pt x="9632562" y="2119164"/>
                </a:lnTo>
                <a:lnTo>
                  <a:pt x="0" y="21191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6396" y="7576974"/>
            <a:ext cx="9310874" cy="2297683"/>
          </a:xfrm>
          <a:custGeom>
            <a:avLst/>
            <a:gdLst/>
            <a:ahLst/>
            <a:cxnLst/>
            <a:rect r="r" b="b" t="t" l="l"/>
            <a:pathLst>
              <a:path h="2297683" w="9310874">
                <a:moveTo>
                  <a:pt x="0" y="0"/>
                </a:moveTo>
                <a:lnTo>
                  <a:pt x="9310874" y="0"/>
                </a:lnTo>
                <a:lnTo>
                  <a:pt x="9310874" y="2297684"/>
                </a:lnTo>
                <a:lnTo>
                  <a:pt x="0" y="2297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69842" y="8001712"/>
            <a:ext cx="7075355" cy="1064118"/>
          </a:xfrm>
          <a:custGeom>
            <a:avLst/>
            <a:gdLst/>
            <a:ahLst/>
            <a:cxnLst/>
            <a:rect r="r" b="b" t="t" l="l"/>
            <a:pathLst>
              <a:path h="1064118" w="7075355">
                <a:moveTo>
                  <a:pt x="0" y="0"/>
                </a:moveTo>
                <a:lnTo>
                  <a:pt x="7075355" y="0"/>
                </a:lnTo>
                <a:lnTo>
                  <a:pt x="7075355" y="1064117"/>
                </a:lnTo>
                <a:lnTo>
                  <a:pt x="0" y="10641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5511" r="0" b="-551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836889" y="6544913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356516" y="6820747"/>
            <a:ext cx="2233343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90952" y="969368"/>
            <a:ext cx="3941046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PYTHON CODE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44475" y="1269276"/>
            <a:ext cx="3457425" cy="756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  <a:spcBef>
                <a:spcPct val="0"/>
              </a:spcBef>
            </a:pPr>
            <a:r>
              <a:rPr lang="en-US" b="true" sz="447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SQL QUEREY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6396" y="9442"/>
            <a:ext cx="18161342" cy="1336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b="true" sz="3854">
                <a:solidFill>
                  <a:srgbClr val="000000"/>
                </a:solidFill>
                <a:latin typeface="Luktao Bold"/>
                <a:ea typeface="Luktao Bold"/>
                <a:cs typeface="Luktao Bold"/>
                <a:sym typeface="Luktao Bold"/>
              </a:rPr>
              <a:t>Q15.  TOP 3 CUSTOMERS WHO SPENT THE MOST MONEY IN EACH YEAR.</a:t>
            </a:r>
          </a:p>
          <a:p>
            <a:pPr algn="ctr">
              <a:lnSpc>
                <a:spcPts val="539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15100" y="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29397" y="61433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4114800"/>
            <a:ext cx="11772900" cy="6143313"/>
          </a:xfrm>
          <a:custGeom>
            <a:avLst/>
            <a:gdLst/>
            <a:ahLst/>
            <a:cxnLst/>
            <a:rect r="r" b="b" t="t" l="l"/>
            <a:pathLst>
              <a:path h="6143313" w="11772900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14790" y="4059268"/>
            <a:ext cx="12458420" cy="194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42"/>
              </a:lnSpc>
            </a:pPr>
            <a:r>
              <a:rPr lang="en-US" b="true" sz="11387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DAHGQj-OerY</dc:identifier>
  <dcterms:modified xsi:type="dcterms:W3CDTF">2011-08-01T06:04:30Z</dcterms:modified>
  <cp:revision>1</cp:revision>
  <dc:title>Project Presentation</dc:title>
</cp:coreProperties>
</file>