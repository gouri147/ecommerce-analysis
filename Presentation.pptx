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Agrandir" panose="020B0604020202020204" charset="0"/>
      <p:regular r:id="rId17"/>
    </p:embeddedFont>
    <p:embeddedFont>
      <p:font typeface="Agrandir Bold" panose="020B0604020202020204" charset="0"/>
      <p:regular r:id="rId18"/>
    </p:embeddedFont>
    <p:embeddedFont>
      <p:font typeface="Canva Sans Bold" panose="020B0604020202020204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1" d="100"/>
          <a:sy n="51" d="100"/>
        </p:scale>
        <p:origin x="72" y="28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3226129" y="2314575"/>
            <a:ext cx="5657850" cy="5657850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33450" cap="sq">
              <a:gradFill>
                <a:gsLst>
                  <a:gs pos="0">
                    <a:srgbClr val="036E99">
                      <a:alpha val="63000"/>
                    </a:srgbClr>
                  </a:gs>
                  <a:gs pos="100000">
                    <a:srgbClr val="0078A8">
                      <a:alpha val="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83979" y="2314575"/>
            <a:ext cx="5657850" cy="565785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33450" cap="sq">
              <a:gradFill>
                <a:gsLst>
                  <a:gs pos="0">
                    <a:srgbClr val="0078A8">
                      <a:alpha val="0"/>
                    </a:srgbClr>
                  </a:gs>
                  <a:gs pos="100000">
                    <a:srgbClr val="036E99">
                      <a:alpha val="6300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4724444" y="1943436"/>
            <a:ext cx="8319070" cy="2087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87"/>
              </a:lnSpc>
              <a:spcBef>
                <a:spcPct val="0"/>
              </a:spcBef>
            </a:pPr>
            <a:r>
              <a:rPr lang="en-US" sz="5562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Navigating the Future of Online Shopping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440314" y="4545346"/>
            <a:ext cx="7407371" cy="29784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07"/>
              </a:lnSpc>
              <a:spcBef>
                <a:spcPct val="0"/>
              </a:spcBef>
            </a:pPr>
            <a:r>
              <a:rPr lang="en-US" sz="536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E-commerce Data Analysis using SQL &amp; Python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518733" y="8258175"/>
            <a:ext cx="1625267" cy="328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83"/>
              </a:lnSpc>
              <a:spcBef>
                <a:spcPct val="0"/>
              </a:spcBef>
            </a:pPr>
            <a:r>
              <a:rPr lang="en-US" sz="17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presented by: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144000" y="8208778"/>
            <a:ext cx="2215817" cy="704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3"/>
              </a:lnSpc>
            </a:pPr>
            <a:r>
              <a:rPr lang="en-US" sz="1902" b="1">
                <a:solidFill>
                  <a:srgbClr val="B0E1F5"/>
                </a:solidFill>
                <a:latin typeface="Agrandir Bold"/>
                <a:ea typeface="Agrandir Bold"/>
                <a:cs typeface="Agrandir Bold"/>
                <a:sym typeface="Agrandir Bold"/>
              </a:rPr>
              <a:t>GOURI SHARMA</a:t>
            </a:r>
          </a:p>
          <a:p>
            <a:pPr algn="l">
              <a:lnSpc>
                <a:spcPts val="2663"/>
              </a:lnSpc>
              <a:spcBef>
                <a:spcPct val="0"/>
              </a:spcBef>
            </a:pPr>
            <a:endParaRPr lang="en-US" sz="1902" b="1">
              <a:solidFill>
                <a:srgbClr val="B0E1F5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6464055" y="9139538"/>
            <a:ext cx="1272472" cy="374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3"/>
              </a:lnSpc>
              <a:spcBef>
                <a:spcPct val="0"/>
              </a:spcBef>
            </a:pPr>
            <a:r>
              <a:rPr lang="en-US" sz="19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page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886423" y="1733550"/>
            <a:ext cx="6819900" cy="6819900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447675" cap="sq">
              <a:gradFill>
                <a:gsLst>
                  <a:gs pos="0">
                    <a:srgbClr val="036E99">
                      <a:alpha val="63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2254018" y="3496205"/>
            <a:ext cx="915354" cy="715640"/>
          </a:xfrm>
          <a:custGeom>
            <a:avLst/>
            <a:gdLst/>
            <a:ahLst/>
            <a:cxnLst/>
            <a:rect l="l" t="t" r="r" b="b"/>
            <a:pathLst>
              <a:path w="915354" h="715640">
                <a:moveTo>
                  <a:pt x="0" y="0"/>
                </a:moveTo>
                <a:lnTo>
                  <a:pt x="915354" y="0"/>
                </a:lnTo>
                <a:lnTo>
                  <a:pt x="915354" y="715640"/>
                </a:lnTo>
                <a:lnTo>
                  <a:pt x="0" y="7156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1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2254018" y="4381832"/>
            <a:ext cx="4305357" cy="1504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0500"/>
              </a:lnSpc>
              <a:spcBef>
                <a:spcPct val="0"/>
              </a:spcBef>
            </a:pPr>
            <a:r>
              <a:rPr lang="en-US" sz="7500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About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254018" y="5400264"/>
            <a:ext cx="4929426" cy="21947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8134"/>
              </a:lnSpc>
              <a:spcBef>
                <a:spcPct val="0"/>
              </a:spcBef>
            </a:pPr>
            <a:r>
              <a:rPr lang="en-US" sz="581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OUR COMPANY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464055" y="9139538"/>
            <a:ext cx="1053767" cy="374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3"/>
              </a:lnSpc>
              <a:spcBef>
                <a:spcPct val="0"/>
              </a:spcBef>
            </a:pPr>
            <a:r>
              <a:rPr lang="en-US" sz="19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page 02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144000" y="2681338"/>
            <a:ext cx="7320055" cy="5847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900"/>
              </a:lnSpc>
            </a:pPr>
            <a:r>
              <a:rPr lang="en-US" sz="2786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The dataset represents a multi-category e-commerce platform connecting customers and sellers across various regions. The platform facilitates online transactions, offering a wide range of products with multiple payment options including installments.</a:t>
            </a:r>
          </a:p>
          <a:p>
            <a:pPr algn="just">
              <a:lnSpc>
                <a:spcPts val="3900"/>
              </a:lnSpc>
            </a:pPr>
            <a:r>
              <a:rPr lang="en-US" sz="2786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With increasing competition in the e-commerce space, understanding customer behavior, sales performance, and seller contribution is crucial for business growth.</a:t>
            </a:r>
          </a:p>
          <a:p>
            <a:pPr algn="just">
              <a:lnSpc>
                <a:spcPts val="2500"/>
              </a:lnSpc>
              <a:spcBef>
                <a:spcPct val="0"/>
              </a:spcBef>
            </a:pPr>
            <a:endParaRPr lang="en-US" sz="2786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1733550"/>
            <a:ext cx="6819900" cy="6819900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447675" cap="sq">
              <a:gradFill>
                <a:gsLst>
                  <a:gs pos="0">
                    <a:srgbClr val="036E99">
                      <a:alpha val="63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6371992" y="1820216"/>
            <a:ext cx="915354" cy="715640"/>
          </a:xfrm>
          <a:custGeom>
            <a:avLst/>
            <a:gdLst/>
            <a:ahLst/>
            <a:cxnLst/>
            <a:rect l="l" t="t" r="r" b="b"/>
            <a:pathLst>
              <a:path w="915354" h="715640">
                <a:moveTo>
                  <a:pt x="0" y="0"/>
                </a:moveTo>
                <a:lnTo>
                  <a:pt x="915354" y="0"/>
                </a:lnTo>
                <a:lnTo>
                  <a:pt x="915354" y="715640"/>
                </a:lnTo>
                <a:lnTo>
                  <a:pt x="0" y="7156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1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0" y="2790793"/>
            <a:ext cx="4389860" cy="4389860"/>
            <a:chOff x="0" y="0"/>
            <a:chExt cx="14840029" cy="14840029"/>
          </a:xfrm>
        </p:grpSpPr>
        <p:sp>
          <p:nvSpPr>
            <p:cNvPr id="8" name="Freeform 8"/>
            <p:cNvSpPr/>
            <p:nvPr/>
          </p:nvSpPr>
          <p:spPr>
            <a:xfrm>
              <a:off x="-33258" y="-75"/>
              <a:ext cx="14906544" cy="14840178"/>
            </a:xfrm>
            <a:custGeom>
              <a:avLst/>
              <a:gdLst/>
              <a:ahLst/>
              <a:cxnLst/>
              <a:rect l="l" t="t" r="r" b="b"/>
              <a:pathLst>
                <a:path w="14906544" h="14840178">
                  <a:moveTo>
                    <a:pt x="7453273" y="75"/>
                  </a:moveTo>
                  <a:cubicBezTo>
                    <a:pt x="4794451" y="-11816"/>
                    <a:pt x="2332496" y="1399825"/>
                    <a:pt x="999642" y="3700470"/>
                  </a:cubicBezTo>
                  <a:cubicBezTo>
                    <a:pt x="-333213" y="6001115"/>
                    <a:pt x="-333213" y="8839064"/>
                    <a:pt x="999642" y="11139709"/>
                  </a:cubicBezTo>
                  <a:cubicBezTo>
                    <a:pt x="2332496" y="13440354"/>
                    <a:pt x="4794451" y="14851995"/>
                    <a:pt x="7453273" y="14840104"/>
                  </a:cubicBezTo>
                  <a:cubicBezTo>
                    <a:pt x="10112093" y="14851995"/>
                    <a:pt x="12574049" y="13440354"/>
                    <a:pt x="13906904" y="11139709"/>
                  </a:cubicBezTo>
                  <a:cubicBezTo>
                    <a:pt x="15239758" y="8839064"/>
                    <a:pt x="15239758" y="6001115"/>
                    <a:pt x="13906904" y="3700470"/>
                  </a:cubicBezTo>
                  <a:cubicBezTo>
                    <a:pt x="12574049" y="1399825"/>
                    <a:pt x="10112093" y="-11816"/>
                    <a:pt x="7453273" y="75"/>
                  </a:cubicBezTo>
                  <a:close/>
                </a:path>
              </a:pathLst>
            </a:custGeom>
            <a:gradFill rotWithShape="1">
              <a:gsLst>
                <a:gs pos="0">
                  <a:srgbClr val="036E99">
                    <a:alpha val="100000"/>
                  </a:srgbClr>
                </a:gs>
                <a:gs pos="100000">
                  <a:srgbClr val="0078A8">
                    <a:alpha val="0"/>
                  </a:srgbClr>
                </a:gs>
              </a:gsLst>
              <a:lin ang="0"/>
            </a:gradFill>
          </p:spPr>
        </p:sp>
        <p:sp>
          <p:nvSpPr>
            <p:cNvPr id="9" name="Freeform 9"/>
            <p:cNvSpPr/>
            <p:nvPr/>
          </p:nvSpPr>
          <p:spPr>
            <a:xfrm>
              <a:off x="168022" y="200309"/>
              <a:ext cx="14503985" cy="14439411"/>
            </a:xfrm>
            <a:custGeom>
              <a:avLst/>
              <a:gdLst/>
              <a:ahLst/>
              <a:cxnLst/>
              <a:rect l="l" t="t" r="r" b="b"/>
              <a:pathLst>
                <a:path w="14503985" h="14439411">
                  <a:moveTo>
                    <a:pt x="7251993" y="73"/>
                  </a:moveTo>
                  <a:cubicBezTo>
                    <a:pt x="4664974" y="-11497"/>
                    <a:pt x="2269506" y="1362022"/>
                    <a:pt x="972645" y="3600537"/>
                  </a:cubicBezTo>
                  <a:cubicBezTo>
                    <a:pt x="-324215" y="5839051"/>
                    <a:pt x="-324215" y="8600360"/>
                    <a:pt x="972645" y="10838875"/>
                  </a:cubicBezTo>
                  <a:cubicBezTo>
                    <a:pt x="2269506" y="13077389"/>
                    <a:pt x="4664974" y="14450908"/>
                    <a:pt x="7251993" y="14439338"/>
                  </a:cubicBezTo>
                  <a:cubicBezTo>
                    <a:pt x="9839011" y="14450908"/>
                    <a:pt x="12234479" y="13077389"/>
                    <a:pt x="13531340" y="10838875"/>
                  </a:cubicBezTo>
                  <a:cubicBezTo>
                    <a:pt x="14828201" y="8600360"/>
                    <a:pt x="14828201" y="5839051"/>
                    <a:pt x="13531340" y="3600537"/>
                  </a:cubicBezTo>
                  <a:cubicBezTo>
                    <a:pt x="12234479" y="1362022"/>
                    <a:pt x="9839011" y="-11497"/>
                    <a:pt x="7251993" y="73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0" name="Freeform 10"/>
            <p:cNvSpPr/>
            <p:nvPr/>
          </p:nvSpPr>
          <p:spPr>
            <a:xfrm>
              <a:off x="531276" y="561946"/>
              <a:ext cx="13777477" cy="13716137"/>
            </a:xfrm>
            <a:custGeom>
              <a:avLst/>
              <a:gdLst/>
              <a:ahLst/>
              <a:cxnLst/>
              <a:rect l="l" t="t" r="r" b="b"/>
              <a:pathLst>
                <a:path w="13777477" h="13716137">
                  <a:moveTo>
                    <a:pt x="6888739" y="68"/>
                  </a:moveTo>
                  <a:cubicBezTo>
                    <a:pt x="4431305" y="-10922"/>
                    <a:pt x="2155826" y="1293797"/>
                    <a:pt x="923925" y="3420184"/>
                  </a:cubicBezTo>
                  <a:cubicBezTo>
                    <a:pt x="-307975" y="5546571"/>
                    <a:pt x="-307975" y="8169565"/>
                    <a:pt x="923925" y="10295952"/>
                  </a:cubicBezTo>
                  <a:cubicBezTo>
                    <a:pt x="2155826" y="12422339"/>
                    <a:pt x="4431305" y="13727058"/>
                    <a:pt x="6888739" y="13716068"/>
                  </a:cubicBezTo>
                  <a:cubicBezTo>
                    <a:pt x="9346172" y="13727058"/>
                    <a:pt x="11621651" y="12422339"/>
                    <a:pt x="12853552" y="10295952"/>
                  </a:cubicBezTo>
                  <a:cubicBezTo>
                    <a:pt x="14085452" y="8169565"/>
                    <a:pt x="14085452" y="5546571"/>
                    <a:pt x="12853552" y="3420184"/>
                  </a:cubicBezTo>
                  <a:cubicBezTo>
                    <a:pt x="11621651" y="1293797"/>
                    <a:pt x="9346172" y="-10922"/>
                    <a:pt x="6888739" y="68"/>
                  </a:cubicBezTo>
                  <a:close/>
                </a:path>
              </a:pathLst>
            </a:custGeom>
            <a:blipFill>
              <a:blip r:embed="rId4"/>
              <a:stretch>
                <a:fillRect l="223" t="-24931" r="223" b="-24931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6371992" y="220016"/>
            <a:ext cx="8830136" cy="2838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0500"/>
              </a:lnSpc>
              <a:spcBef>
                <a:spcPct val="0"/>
              </a:spcBef>
            </a:pPr>
            <a:r>
              <a:rPr lang="en-US" sz="750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PROBLEM STATEMENT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464055" y="9139538"/>
            <a:ext cx="1053767" cy="374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3"/>
              </a:lnSpc>
              <a:spcBef>
                <a:spcPct val="0"/>
              </a:spcBef>
            </a:pPr>
            <a:r>
              <a:rPr lang="en-US" sz="19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page 03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627330" y="3343449"/>
            <a:ext cx="11363608" cy="5492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3"/>
              </a:lnSpc>
              <a:spcBef>
                <a:spcPct val="0"/>
              </a:spcBef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The e-commerce platform generates large volumes of transactional data; however, there is a lack of clear visibility into key business metrics such as sales trends, customer purchasing behavior, payment preferences, and seller performance.</a:t>
            </a:r>
          </a:p>
          <a:p>
            <a:pPr algn="l">
              <a:lnSpc>
                <a:spcPts val="3363"/>
              </a:lnSpc>
              <a:spcBef>
                <a:spcPct val="0"/>
              </a:spcBef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363"/>
              </a:lnSpc>
              <a:spcBef>
                <a:spcPct val="0"/>
              </a:spcBef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This limits the organization’s ability to:-</a:t>
            </a:r>
          </a:p>
          <a:p>
            <a:pPr algn="l">
              <a:lnSpc>
                <a:spcPts val="3363"/>
              </a:lnSpc>
              <a:spcBef>
                <a:spcPct val="0"/>
              </a:spcBef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-Identify revenue drivers</a:t>
            </a:r>
          </a:p>
          <a:p>
            <a:pPr algn="l">
              <a:lnSpc>
                <a:spcPts val="3363"/>
              </a:lnSpc>
              <a:spcBef>
                <a:spcPct val="0"/>
              </a:spcBef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-Improve customer retention</a:t>
            </a:r>
          </a:p>
          <a:p>
            <a:pPr algn="l">
              <a:lnSpc>
                <a:spcPts val="3363"/>
              </a:lnSpc>
              <a:spcBef>
                <a:spcPct val="0"/>
              </a:spcBef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-Optimize payment strategies</a:t>
            </a:r>
          </a:p>
          <a:p>
            <a:pPr algn="l">
              <a:lnSpc>
                <a:spcPts val="3363"/>
              </a:lnSpc>
              <a:spcBef>
                <a:spcPct val="0"/>
              </a:spcBef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-Ensure balanced seller contribution</a:t>
            </a:r>
          </a:p>
          <a:p>
            <a:pPr algn="l">
              <a:lnSpc>
                <a:spcPts val="3363"/>
              </a:lnSpc>
              <a:spcBef>
                <a:spcPct val="0"/>
              </a:spcBef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363"/>
              </a:lnSpc>
              <a:spcBef>
                <a:spcPct val="0"/>
              </a:spcBef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As a result, data-driven decision-making becomes challenging, impacting overall business growth and operational efficiency.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772733" y="1205547"/>
            <a:ext cx="2515986" cy="2515986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657225" cap="sq">
              <a:gradFill>
                <a:gsLst>
                  <a:gs pos="0">
                    <a:srgbClr val="B4EAFF">
                      <a:alpha val="63000"/>
                    </a:srgbClr>
                  </a:gs>
                  <a:gs pos="100000">
                    <a:srgbClr val="0078A8">
                      <a:alpha val="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6464055" y="9139538"/>
            <a:ext cx="1053767" cy="374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3"/>
              </a:lnSpc>
              <a:spcBef>
                <a:spcPct val="0"/>
              </a:spcBef>
            </a:pPr>
            <a:r>
              <a:rPr lang="en-US" sz="19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page 04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183546" y="423400"/>
            <a:ext cx="9562302" cy="1504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0500"/>
              </a:lnSpc>
              <a:spcBef>
                <a:spcPct val="0"/>
              </a:spcBef>
            </a:pPr>
            <a:r>
              <a:rPr lang="en-US" sz="7500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Challenges Faced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38455" y="1973154"/>
            <a:ext cx="16579366" cy="7427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80"/>
              </a:lnSpc>
              <a:spcBef>
                <a:spcPct val="0"/>
              </a:spcBef>
            </a:pPr>
            <a:r>
              <a:rPr lang="en-US" sz="2343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-Data Quality Issues:</a:t>
            </a:r>
          </a:p>
          <a:p>
            <a:pPr algn="l">
              <a:lnSpc>
                <a:spcPts val="3280"/>
              </a:lnSpc>
              <a:spcBef>
                <a:spcPct val="0"/>
              </a:spcBef>
            </a:pPr>
            <a:r>
              <a:rPr lang="en-US" sz="2343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 Inconsistent column names and formatting required preprocessing and standardization before analysis.</a:t>
            </a:r>
          </a:p>
          <a:p>
            <a:pPr algn="l">
              <a:lnSpc>
                <a:spcPts val="3280"/>
              </a:lnSpc>
              <a:spcBef>
                <a:spcPct val="0"/>
              </a:spcBef>
            </a:pPr>
            <a:endParaRPr lang="en-US" sz="2343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280"/>
              </a:lnSpc>
              <a:spcBef>
                <a:spcPct val="0"/>
              </a:spcBef>
            </a:pPr>
            <a:r>
              <a:rPr lang="en-US" sz="2343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-Multi-Table Integration:</a:t>
            </a:r>
          </a:p>
          <a:p>
            <a:pPr algn="l">
              <a:lnSpc>
                <a:spcPts val="3280"/>
              </a:lnSpc>
              <a:spcBef>
                <a:spcPct val="0"/>
              </a:spcBef>
            </a:pPr>
            <a:r>
              <a:rPr lang="en-US" sz="2343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 Combining multiple datasets (orders, customers, products, payments, sellers) required careful joins to maintain data accuracy</a:t>
            </a:r>
          </a:p>
          <a:p>
            <a:pPr algn="l">
              <a:lnSpc>
                <a:spcPts val="3280"/>
              </a:lnSpc>
              <a:spcBef>
                <a:spcPct val="0"/>
              </a:spcBef>
            </a:pPr>
            <a:endParaRPr lang="en-US" sz="2343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280"/>
              </a:lnSpc>
              <a:spcBef>
                <a:spcPct val="0"/>
              </a:spcBef>
            </a:pPr>
            <a:r>
              <a:rPr lang="en-US" sz="2343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-Handling Large Dataset:</a:t>
            </a:r>
          </a:p>
          <a:p>
            <a:pPr algn="l">
              <a:lnSpc>
                <a:spcPts val="3280"/>
              </a:lnSpc>
              <a:spcBef>
                <a:spcPct val="0"/>
              </a:spcBef>
            </a:pPr>
            <a:r>
              <a:rPr lang="en-US" sz="2343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 Managing and processing ~99K+ records impacted performance and required efficient querying and data handling.</a:t>
            </a:r>
          </a:p>
          <a:p>
            <a:pPr algn="l">
              <a:lnSpc>
                <a:spcPts val="3280"/>
              </a:lnSpc>
              <a:spcBef>
                <a:spcPct val="0"/>
              </a:spcBef>
            </a:pPr>
            <a:endParaRPr lang="en-US" sz="2343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280"/>
              </a:lnSpc>
              <a:spcBef>
                <a:spcPct val="0"/>
              </a:spcBef>
            </a:pPr>
            <a:r>
              <a:rPr lang="en-US" sz="2343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-Time-Based Analysis Complexity:</a:t>
            </a:r>
          </a:p>
          <a:p>
            <a:pPr algn="l">
              <a:lnSpc>
                <a:spcPts val="3280"/>
              </a:lnSpc>
              <a:spcBef>
                <a:spcPct val="0"/>
              </a:spcBef>
            </a:pPr>
            <a:r>
              <a:rPr lang="en-US" sz="2343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 Extracting meaningful trends required transforming timestamps into usable formats (year, month).</a:t>
            </a:r>
          </a:p>
          <a:p>
            <a:pPr algn="l">
              <a:lnSpc>
                <a:spcPts val="3280"/>
              </a:lnSpc>
              <a:spcBef>
                <a:spcPct val="0"/>
              </a:spcBef>
            </a:pPr>
            <a:endParaRPr lang="en-US" sz="2343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280"/>
              </a:lnSpc>
              <a:spcBef>
                <a:spcPct val="0"/>
              </a:spcBef>
            </a:pPr>
            <a:r>
              <a:rPr lang="en-US" sz="2343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-Data Consistency &amp; Validation:</a:t>
            </a:r>
          </a:p>
          <a:p>
            <a:pPr algn="l">
              <a:lnSpc>
                <a:spcPts val="3280"/>
              </a:lnSpc>
              <a:spcBef>
                <a:spcPct val="0"/>
              </a:spcBef>
            </a:pPr>
            <a:r>
              <a:rPr lang="en-US" sz="2343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 Ensuring correct relationships between tables (e.g., order_id, product_id) to avoid duplication or incorrect aggregation.</a:t>
            </a:r>
          </a:p>
          <a:p>
            <a:pPr algn="l">
              <a:lnSpc>
                <a:spcPts val="3280"/>
              </a:lnSpc>
              <a:spcBef>
                <a:spcPct val="0"/>
              </a:spcBef>
            </a:pPr>
            <a:endParaRPr lang="en-US" sz="2343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280"/>
              </a:lnSpc>
              <a:spcBef>
                <a:spcPct val="0"/>
              </a:spcBef>
            </a:pPr>
            <a:r>
              <a:rPr lang="en-US" sz="2343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-Tool &amp; Environment Setup Issues:</a:t>
            </a:r>
          </a:p>
          <a:p>
            <a:pPr algn="l">
              <a:lnSpc>
                <a:spcPts val="3280"/>
              </a:lnSpc>
              <a:spcBef>
                <a:spcPct val="0"/>
              </a:spcBef>
            </a:pPr>
            <a:r>
              <a:rPr lang="en-US" sz="2343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 Initial challenges in configuring MySQL and handling data import slowed down early stages of the project.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112395" y="1758769"/>
            <a:ext cx="915354" cy="715640"/>
          </a:xfrm>
          <a:custGeom>
            <a:avLst/>
            <a:gdLst/>
            <a:ahLst/>
            <a:cxnLst/>
            <a:rect l="l" t="t" r="r" b="b"/>
            <a:pathLst>
              <a:path w="915354" h="715640">
                <a:moveTo>
                  <a:pt x="0" y="0"/>
                </a:moveTo>
                <a:lnTo>
                  <a:pt x="915353" y="0"/>
                </a:lnTo>
                <a:lnTo>
                  <a:pt x="915353" y="715641"/>
                </a:lnTo>
                <a:lnTo>
                  <a:pt x="0" y="7156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1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6464055" y="9139538"/>
            <a:ext cx="1053767" cy="374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3"/>
              </a:lnSpc>
              <a:spcBef>
                <a:spcPct val="0"/>
              </a:spcBef>
            </a:pPr>
            <a:r>
              <a:rPr lang="en-US" sz="19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page 05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851521" y="2670376"/>
            <a:ext cx="6242650" cy="1504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0500"/>
              </a:lnSpc>
              <a:spcBef>
                <a:spcPct val="0"/>
              </a:spcBef>
            </a:pPr>
            <a:r>
              <a:rPr lang="en-US" sz="750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Tools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851521" y="4061585"/>
            <a:ext cx="5819549" cy="2838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0500"/>
              </a:lnSpc>
              <a:spcBef>
                <a:spcPct val="0"/>
              </a:spcBef>
            </a:pPr>
            <a:r>
              <a:rPr lang="en-US" sz="750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And Approach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094171" y="2879926"/>
            <a:ext cx="8929778" cy="55028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69793" lvl="1" indent="-334897" algn="just">
              <a:lnSpc>
                <a:spcPts val="4343"/>
              </a:lnSpc>
              <a:buFont typeface="Arial"/>
              <a:buChar char="•"/>
            </a:pPr>
            <a:r>
              <a:rPr lang="en-US" sz="31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SQL (MySQL) → Data extraction &amp; querying</a:t>
            </a:r>
          </a:p>
          <a:p>
            <a:pPr algn="just">
              <a:lnSpc>
                <a:spcPts val="4343"/>
              </a:lnSpc>
            </a:pPr>
            <a:endParaRPr lang="en-US" sz="31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marL="669793" lvl="1" indent="-334897" algn="just">
              <a:lnSpc>
                <a:spcPts val="4343"/>
              </a:lnSpc>
              <a:buFont typeface="Arial"/>
              <a:buChar char="•"/>
            </a:pPr>
            <a:r>
              <a:rPr lang="en-US" sz="31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Python (Pandas, Matplotlib) → Data analysis &amp; visualization</a:t>
            </a:r>
          </a:p>
          <a:p>
            <a:pPr algn="just">
              <a:lnSpc>
                <a:spcPts val="4343"/>
              </a:lnSpc>
            </a:pPr>
            <a:endParaRPr lang="en-US" sz="31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marL="669793" lvl="1" indent="-334897" algn="just">
              <a:lnSpc>
                <a:spcPts val="4343"/>
              </a:lnSpc>
              <a:buFont typeface="Arial"/>
              <a:buChar char="•"/>
            </a:pPr>
            <a:r>
              <a:rPr lang="en-US" sz="31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Google Colab → Implementation</a:t>
            </a:r>
          </a:p>
          <a:p>
            <a:pPr algn="just">
              <a:lnSpc>
                <a:spcPts val="4343"/>
              </a:lnSpc>
            </a:pPr>
            <a:endParaRPr lang="en-US" sz="31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marL="669793" lvl="1" indent="-334897" algn="just">
              <a:lnSpc>
                <a:spcPts val="4343"/>
              </a:lnSpc>
              <a:buFont typeface="Arial"/>
              <a:buChar char="•"/>
            </a:pPr>
            <a:r>
              <a:rPr lang="en-US" sz="31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Structured workflow: Data Cleaning → Analysis → Visualization → Insights</a:t>
            </a:r>
          </a:p>
          <a:p>
            <a:pPr algn="just">
              <a:lnSpc>
                <a:spcPts val="4343"/>
              </a:lnSpc>
              <a:spcBef>
                <a:spcPct val="0"/>
              </a:spcBef>
            </a:pPr>
            <a:endParaRPr lang="en-US" sz="31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6464055" y="9139538"/>
            <a:ext cx="1053767" cy="374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3"/>
              </a:lnSpc>
              <a:spcBef>
                <a:spcPct val="0"/>
              </a:spcBef>
            </a:pPr>
            <a:r>
              <a:rPr lang="en-US" sz="19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page 06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898854" y="2975569"/>
            <a:ext cx="6075089" cy="1504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0500"/>
              </a:lnSpc>
              <a:spcBef>
                <a:spcPct val="0"/>
              </a:spcBef>
            </a:pPr>
            <a:r>
              <a:rPr lang="en-US" sz="750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Key Metrics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998803" y="1670842"/>
            <a:ext cx="6260497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348"/>
              </a:lnSpc>
            </a:pPr>
            <a:r>
              <a:rPr lang="en-US" sz="279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Total Orders: ~99,000+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998803" y="3152838"/>
            <a:ext cx="5705768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318"/>
              </a:lnSpc>
            </a:pPr>
            <a:r>
              <a:rPr lang="en-US" sz="2765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Total Orders in 2017: 45,101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998803" y="7573241"/>
            <a:ext cx="5359131" cy="923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348"/>
              </a:lnSpc>
            </a:pPr>
            <a:r>
              <a:rPr lang="en-US" sz="279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Large customer and seller base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998803" y="6011141"/>
            <a:ext cx="6108097" cy="923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348"/>
              </a:lnSpc>
            </a:pPr>
            <a:r>
              <a:rPr lang="en-US" sz="279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Multiple product categories analyzed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998803" y="4702888"/>
            <a:ext cx="5992135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348"/>
              </a:lnSpc>
            </a:pPr>
            <a:r>
              <a:rPr lang="en-US" sz="279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Installment usage: 49.42%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457381" y="4644637"/>
            <a:ext cx="2515986" cy="2515986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657225" cap="sq">
              <a:gradFill>
                <a:gsLst>
                  <a:gs pos="0">
                    <a:srgbClr val="B4EAFF">
                      <a:alpha val="63000"/>
                    </a:srgbClr>
                  </a:gs>
                  <a:gs pos="100000">
                    <a:srgbClr val="0078A8">
                      <a:alpha val="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457381" y="2801024"/>
            <a:ext cx="7694067" cy="6203211"/>
          </a:xfrm>
          <a:custGeom>
            <a:avLst/>
            <a:gdLst/>
            <a:ahLst/>
            <a:cxnLst/>
            <a:rect l="l" t="t" r="r" b="b"/>
            <a:pathLst>
              <a:path w="7694067" h="6203211">
                <a:moveTo>
                  <a:pt x="0" y="0"/>
                </a:moveTo>
                <a:lnTo>
                  <a:pt x="7694067" y="0"/>
                </a:lnTo>
                <a:lnTo>
                  <a:pt x="7694067" y="6203211"/>
                </a:lnTo>
                <a:lnTo>
                  <a:pt x="0" y="6203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6464055" y="9139538"/>
            <a:ext cx="1053767" cy="374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3"/>
              </a:lnSpc>
              <a:spcBef>
                <a:spcPct val="0"/>
              </a:spcBef>
            </a:pPr>
            <a:r>
              <a:rPr lang="en-US" sz="19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page 07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12615" y="666750"/>
            <a:ext cx="6363098" cy="1504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0500"/>
              </a:lnSpc>
              <a:spcBef>
                <a:spcPct val="0"/>
              </a:spcBef>
            </a:pPr>
            <a:r>
              <a:rPr lang="en-US" sz="750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Order Trend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348413" y="3499961"/>
            <a:ext cx="8910887" cy="3815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3"/>
              </a:lnSpc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To show the year-wise order trend</a:t>
            </a:r>
          </a:p>
          <a:p>
            <a:pPr algn="l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363"/>
              </a:lnSpc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Insight-</a:t>
            </a:r>
          </a:p>
          <a:p>
            <a:pPr algn="l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363"/>
              </a:lnSpc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-There is a growth in order per year starting from 2016 to 2018</a:t>
            </a:r>
          </a:p>
          <a:p>
            <a:pPr algn="l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363"/>
              </a:lnSpc>
              <a:spcBef>
                <a:spcPct val="0"/>
              </a:spcBef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-2018 has the highest oder approximately 50,000+ which is showing massive year per year growth.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457381" y="4644637"/>
            <a:ext cx="2515986" cy="2515986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657225" cap="sq">
              <a:gradFill>
                <a:gsLst>
                  <a:gs pos="0">
                    <a:srgbClr val="B4EAFF">
                      <a:alpha val="63000"/>
                    </a:srgbClr>
                  </a:gs>
                  <a:gs pos="100000">
                    <a:srgbClr val="0078A8">
                      <a:alpha val="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457381" y="2865432"/>
            <a:ext cx="7941797" cy="6074396"/>
          </a:xfrm>
          <a:custGeom>
            <a:avLst/>
            <a:gdLst/>
            <a:ahLst/>
            <a:cxnLst/>
            <a:rect l="l" t="t" r="r" b="b"/>
            <a:pathLst>
              <a:path w="7941797" h="6074396">
                <a:moveTo>
                  <a:pt x="0" y="0"/>
                </a:moveTo>
                <a:lnTo>
                  <a:pt x="7941797" y="0"/>
                </a:lnTo>
                <a:lnTo>
                  <a:pt x="7941797" y="6074396"/>
                </a:lnTo>
                <a:lnTo>
                  <a:pt x="0" y="60743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351" t="-966" b="-966"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6464055" y="9139538"/>
            <a:ext cx="1053767" cy="374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3"/>
              </a:lnSpc>
              <a:spcBef>
                <a:spcPct val="0"/>
              </a:spcBef>
            </a:pPr>
            <a:r>
              <a:rPr lang="en-US" sz="19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 page 08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817384" y="666750"/>
            <a:ext cx="10653231" cy="1504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0500"/>
              </a:lnSpc>
              <a:spcBef>
                <a:spcPct val="0"/>
              </a:spcBef>
            </a:pPr>
            <a:r>
              <a:rPr lang="en-US" sz="750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Monthly Sales Trend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606934" y="3313765"/>
            <a:ext cx="8910887" cy="5072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3"/>
              </a:lnSpc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To show the monthly sales trend</a:t>
            </a:r>
          </a:p>
          <a:p>
            <a:pPr algn="l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363"/>
              </a:lnSpc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Insight-</a:t>
            </a:r>
          </a:p>
          <a:p>
            <a:pPr algn="l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363"/>
              </a:lnSpc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-There is a growth in sales per month from jan 2017 till April 2018.</a:t>
            </a:r>
          </a:p>
          <a:p>
            <a:pPr algn="l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363"/>
              </a:lnSpc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-The declining in sales is analyzed after april 2018 and a massive decline in July 2018</a:t>
            </a:r>
          </a:p>
          <a:p>
            <a:pPr algn="l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363"/>
              </a:lnSpc>
              <a:spcBef>
                <a:spcPct val="0"/>
              </a:spcBef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-Sales show fluctuations across months, suggesting seasonal demand patterns.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457381" y="4644637"/>
            <a:ext cx="2515986" cy="2515986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657225" cap="sq">
              <a:gradFill>
                <a:gsLst>
                  <a:gs pos="0">
                    <a:srgbClr val="B4EAFF">
                      <a:alpha val="63000"/>
                    </a:srgbClr>
                  </a:gs>
                  <a:gs pos="100000">
                    <a:srgbClr val="0078A8">
                      <a:alpha val="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324645" y="2933184"/>
            <a:ext cx="7979433" cy="5938891"/>
          </a:xfrm>
          <a:custGeom>
            <a:avLst/>
            <a:gdLst/>
            <a:ahLst/>
            <a:cxnLst/>
            <a:rect l="l" t="t" r="r" b="b"/>
            <a:pathLst>
              <a:path w="7979433" h="5938891">
                <a:moveTo>
                  <a:pt x="0" y="0"/>
                </a:moveTo>
                <a:lnTo>
                  <a:pt x="7979433" y="0"/>
                </a:lnTo>
                <a:lnTo>
                  <a:pt x="7979433" y="5938892"/>
                </a:lnTo>
                <a:lnTo>
                  <a:pt x="0" y="59388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6464055" y="9139538"/>
            <a:ext cx="1053767" cy="374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3"/>
              </a:lnSpc>
              <a:spcBef>
                <a:spcPct val="0"/>
              </a:spcBef>
            </a:pPr>
            <a:r>
              <a:rPr lang="en-US" sz="19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page 09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314361" y="823008"/>
            <a:ext cx="10653231" cy="1504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0500"/>
              </a:lnSpc>
              <a:spcBef>
                <a:spcPct val="0"/>
              </a:spcBef>
            </a:pPr>
            <a:r>
              <a:rPr lang="en-US" sz="750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Top Product Category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606934" y="3468624"/>
            <a:ext cx="8384004" cy="4653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3"/>
              </a:lnSpc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To show the top category in terms of revenue</a:t>
            </a:r>
          </a:p>
          <a:p>
            <a:pPr algn="l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363"/>
              </a:lnSpc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Insights-</a:t>
            </a:r>
          </a:p>
          <a:p>
            <a:pPr algn="l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363"/>
              </a:lnSpc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-Top product category generating highest of reveue is HEALTH BEAUTY followed by Watches present and bed table bath.</a:t>
            </a:r>
          </a:p>
          <a:p>
            <a:pPr algn="l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363"/>
              </a:lnSpc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-A small number of categories contribute significantly to total revenue.</a:t>
            </a:r>
          </a:p>
          <a:p>
            <a:pPr algn="just">
              <a:lnSpc>
                <a:spcPts val="3363"/>
              </a:lnSpc>
              <a:spcBef>
                <a:spcPct val="0"/>
              </a:spcBef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457381" y="4644637"/>
            <a:ext cx="2515986" cy="2515986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657225" cap="sq">
              <a:gradFill>
                <a:gsLst>
                  <a:gs pos="0">
                    <a:srgbClr val="B4EAFF">
                      <a:alpha val="63000"/>
                    </a:srgbClr>
                  </a:gs>
                  <a:gs pos="100000">
                    <a:srgbClr val="0078A8">
                      <a:alpha val="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457381" y="2868934"/>
            <a:ext cx="7944012" cy="5958009"/>
          </a:xfrm>
          <a:custGeom>
            <a:avLst/>
            <a:gdLst/>
            <a:ahLst/>
            <a:cxnLst/>
            <a:rect l="l" t="t" r="r" b="b"/>
            <a:pathLst>
              <a:path w="7944012" h="5958009">
                <a:moveTo>
                  <a:pt x="0" y="0"/>
                </a:moveTo>
                <a:lnTo>
                  <a:pt x="7944012" y="0"/>
                </a:lnTo>
                <a:lnTo>
                  <a:pt x="7944012" y="5958009"/>
                </a:lnTo>
                <a:lnTo>
                  <a:pt x="0" y="595800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6464055" y="9139538"/>
            <a:ext cx="1053767" cy="374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3"/>
              </a:lnSpc>
              <a:spcBef>
                <a:spcPct val="0"/>
              </a:spcBef>
            </a:pPr>
            <a:r>
              <a:rPr lang="en-US" sz="19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page 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063131" y="666750"/>
            <a:ext cx="10653231" cy="1504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0500"/>
              </a:lnSpc>
              <a:spcBef>
                <a:spcPct val="0"/>
              </a:spcBef>
            </a:pPr>
            <a:r>
              <a:rPr lang="en-US" sz="750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Payment Behaviour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606934" y="3468624"/>
            <a:ext cx="8384004" cy="4653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3"/>
              </a:lnSpc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To show the payment behaviourof customer </a:t>
            </a:r>
          </a:p>
          <a:p>
            <a:pPr algn="l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363"/>
              </a:lnSpc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Insights-</a:t>
            </a:r>
          </a:p>
          <a:p>
            <a:pPr algn="l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363"/>
              </a:lnSpc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-49.42% of orders are paid in installments, indicating strong preference for flexible payments.</a:t>
            </a:r>
          </a:p>
          <a:p>
            <a:pPr algn="l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363"/>
              </a:lnSpc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-Mostly customers preffer low number of installments for payments.</a:t>
            </a:r>
          </a:p>
          <a:p>
            <a:pPr algn="just">
              <a:lnSpc>
                <a:spcPts val="3363"/>
              </a:lnSpc>
              <a:spcBef>
                <a:spcPct val="0"/>
              </a:spcBef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457381" y="4644637"/>
            <a:ext cx="2515986" cy="2515986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657225" cap="sq">
              <a:gradFill>
                <a:gsLst>
                  <a:gs pos="0">
                    <a:srgbClr val="B4EAFF">
                      <a:alpha val="63000"/>
                    </a:srgbClr>
                  </a:gs>
                  <a:gs pos="100000">
                    <a:srgbClr val="0078A8">
                      <a:alpha val="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457381" y="2416449"/>
            <a:ext cx="7997818" cy="5945281"/>
          </a:xfrm>
          <a:custGeom>
            <a:avLst/>
            <a:gdLst/>
            <a:ahLst/>
            <a:cxnLst/>
            <a:rect l="l" t="t" r="r" b="b"/>
            <a:pathLst>
              <a:path w="7997818" h="5945281">
                <a:moveTo>
                  <a:pt x="0" y="0"/>
                </a:moveTo>
                <a:lnTo>
                  <a:pt x="7997818" y="0"/>
                </a:lnTo>
                <a:lnTo>
                  <a:pt x="7997818" y="5945281"/>
                </a:lnTo>
                <a:lnTo>
                  <a:pt x="0" y="594528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6464055" y="9172575"/>
            <a:ext cx="1053767" cy="374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3"/>
              </a:lnSpc>
              <a:spcBef>
                <a:spcPct val="0"/>
              </a:spcBef>
            </a:pPr>
            <a:r>
              <a:rPr lang="en-US" sz="19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page 11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456290" y="469045"/>
            <a:ext cx="10653231" cy="1504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0500"/>
              </a:lnSpc>
              <a:spcBef>
                <a:spcPct val="0"/>
              </a:spcBef>
            </a:pPr>
            <a:r>
              <a:rPr lang="en-US" sz="750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Customer Behaviour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606934" y="3468624"/>
            <a:ext cx="8384004" cy="4234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3"/>
              </a:lnSpc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To show the customer behaviour as per order frequency</a:t>
            </a:r>
          </a:p>
          <a:p>
            <a:pPr algn="l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363"/>
              </a:lnSpc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Insights-</a:t>
            </a:r>
          </a:p>
          <a:p>
            <a:pPr algn="l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363"/>
              </a:lnSpc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-Mostly customers are one time buyer only, indicating low customer retention rate.</a:t>
            </a:r>
          </a:p>
          <a:p>
            <a:pPr algn="l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just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just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just">
              <a:lnSpc>
                <a:spcPts val="3363"/>
              </a:lnSpc>
              <a:spcBef>
                <a:spcPct val="0"/>
              </a:spcBef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457381" y="4644637"/>
            <a:ext cx="2515986" cy="2515986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657225" cap="sq">
              <a:gradFill>
                <a:gsLst>
                  <a:gs pos="0">
                    <a:srgbClr val="B4EAFF">
                      <a:alpha val="63000"/>
                    </a:srgbClr>
                  </a:gs>
                  <a:gs pos="100000">
                    <a:srgbClr val="0078A8">
                      <a:alpha val="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280399" y="2608161"/>
            <a:ext cx="8149553" cy="6060455"/>
          </a:xfrm>
          <a:custGeom>
            <a:avLst/>
            <a:gdLst/>
            <a:ahLst/>
            <a:cxnLst/>
            <a:rect l="l" t="t" r="r" b="b"/>
            <a:pathLst>
              <a:path w="8149553" h="6060455">
                <a:moveTo>
                  <a:pt x="0" y="0"/>
                </a:moveTo>
                <a:lnTo>
                  <a:pt x="8149554" y="0"/>
                </a:lnTo>
                <a:lnTo>
                  <a:pt x="8149554" y="6060455"/>
                </a:lnTo>
                <a:lnTo>
                  <a:pt x="0" y="60604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6464055" y="9139538"/>
            <a:ext cx="1053767" cy="374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3"/>
              </a:lnSpc>
              <a:spcBef>
                <a:spcPct val="0"/>
              </a:spcBef>
            </a:pPr>
            <a:r>
              <a:rPr lang="en-US" sz="19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page 12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355176" y="666750"/>
            <a:ext cx="10653231" cy="1504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0500"/>
              </a:lnSpc>
              <a:spcBef>
                <a:spcPct val="0"/>
              </a:spcBef>
            </a:pPr>
            <a:r>
              <a:rPr lang="en-US" sz="750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Seller Performance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606934" y="3468624"/>
            <a:ext cx="8384004" cy="5072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3"/>
              </a:lnSpc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To show the seller performance by revenue</a:t>
            </a:r>
          </a:p>
          <a:p>
            <a:pPr algn="l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363"/>
              </a:lnSpc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Insights-</a:t>
            </a:r>
          </a:p>
          <a:p>
            <a:pPr algn="l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l">
              <a:lnSpc>
                <a:spcPts val="3363"/>
              </a:lnSpc>
            </a:pPr>
            <a:r>
              <a:rPr lang="en-US" sz="24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-Revenue is concentrated among top sellers, indicating uneven seller contribution.</a:t>
            </a:r>
          </a:p>
          <a:p>
            <a:pPr algn="l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just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just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just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just">
              <a:lnSpc>
                <a:spcPts val="3363"/>
              </a:lnSpc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  <a:p>
            <a:pPr algn="just">
              <a:lnSpc>
                <a:spcPts val="3363"/>
              </a:lnSpc>
              <a:spcBef>
                <a:spcPct val="0"/>
              </a:spcBef>
            </a:pPr>
            <a:endParaRPr lang="en-US" sz="2402">
              <a:solidFill>
                <a:srgbClr val="FFFFFF"/>
              </a:solidFill>
              <a:latin typeface="Agrandir"/>
              <a:ea typeface="Agrandir"/>
              <a:cs typeface="Agrandir"/>
              <a:sym typeface="Agrandi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4502298" y="1487129"/>
            <a:ext cx="915354" cy="715640"/>
          </a:xfrm>
          <a:custGeom>
            <a:avLst/>
            <a:gdLst/>
            <a:ahLst/>
            <a:cxnLst/>
            <a:rect l="l" t="t" r="r" b="b"/>
            <a:pathLst>
              <a:path w="915354" h="715640">
                <a:moveTo>
                  <a:pt x="0" y="0"/>
                </a:moveTo>
                <a:lnTo>
                  <a:pt x="915354" y="0"/>
                </a:lnTo>
                <a:lnTo>
                  <a:pt x="915354" y="715640"/>
                </a:lnTo>
                <a:lnTo>
                  <a:pt x="0" y="7156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1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457381" y="4644637"/>
            <a:ext cx="2515986" cy="2515986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657225" cap="sq">
              <a:gradFill>
                <a:gsLst>
                  <a:gs pos="0">
                    <a:srgbClr val="B4EAFF">
                      <a:alpha val="63000"/>
                    </a:srgbClr>
                  </a:gs>
                  <a:gs pos="100000">
                    <a:srgbClr val="0078A8">
                      <a:alpha val="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4502298" y="-207091"/>
            <a:ext cx="7910018" cy="1504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0500"/>
              </a:lnSpc>
              <a:spcBef>
                <a:spcPct val="0"/>
              </a:spcBef>
            </a:pPr>
            <a:r>
              <a:rPr lang="en-US" sz="750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      Conclusion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1391879"/>
            <a:ext cx="16230600" cy="8640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27"/>
              </a:lnSpc>
            </a:pPr>
            <a:r>
              <a:rPr lang="en-US" sz="1947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-The platform recorded ~99,000+ total orders, with 45,101 orders in 2017, reflecting strong and consistent transaction volume.</a:t>
            </a:r>
          </a:p>
          <a:p>
            <a:pPr algn="l">
              <a:lnSpc>
                <a:spcPts val="2727"/>
              </a:lnSpc>
            </a:pPr>
            <a:endParaRPr lang="en-US" sz="1947" b="1">
              <a:solidFill>
                <a:srgbClr val="FFFFFF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algn="l">
              <a:lnSpc>
                <a:spcPts val="2727"/>
              </a:lnSpc>
            </a:pPr>
            <a:r>
              <a:rPr lang="en-US" sz="1947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-Nearly 49.42% of transactions were completed using installment payments, highlighting a significant dependency on flexible payment options.</a:t>
            </a:r>
          </a:p>
          <a:p>
            <a:pPr algn="l">
              <a:lnSpc>
                <a:spcPts val="2727"/>
              </a:lnSpc>
            </a:pPr>
            <a:endParaRPr lang="en-US" sz="1947" b="1">
              <a:solidFill>
                <a:srgbClr val="FFFFFF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algn="l">
              <a:lnSpc>
                <a:spcPts val="2727"/>
              </a:lnSpc>
            </a:pPr>
            <a:r>
              <a:rPr lang="en-US" sz="1947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-Sales are highly concentrated, with a limited number of product categories contributing a major share of total revenue, indicating key revenue drivers.</a:t>
            </a:r>
          </a:p>
          <a:p>
            <a:pPr algn="l">
              <a:lnSpc>
                <a:spcPts val="2727"/>
              </a:lnSpc>
            </a:pPr>
            <a:endParaRPr lang="en-US" sz="1947" b="1">
              <a:solidFill>
                <a:srgbClr val="FFFFFF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algn="l">
              <a:lnSpc>
                <a:spcPts val="2727"/>
              </a:lnSpc>
            </a:pPr>
            <a:r>
              <a:rPr lang="en-US" sz="1947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-Customer purchasing behavior is skewed toward single-order users, suggesting low repeat purchase rate and weak customer retention.</a:t>
            </a:r>
          </a:p>
          <a:p>
            <a:pPr algn="l">
              <a:lnSpc>
                <a:spcPts val="2727"/>
              </a:lnSpc>
            </a:pPr>
            <a:endParaRPr lang="en-US" sz="1947" b="1">
              <a:solidFill>
                <a:srgbClr val="FFFFFF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algn="l">
              <a:lnSpc>
                <a:spcPts val="2727"/>
              </a:lnSpc>
            </a:pPr>
            <a:r>
              <a:rPr lang="en-US" sz="1947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-Order distribution analysis shows that a majority of customers place only 1 order, with very few high-frequency buyers.</a:t>
            </a:r>
          </a:p>
          <a:p>
            <a:pPr algn="l">
              <a:lnSpc>
                <a:spcPts val="2727"/>
              </a:lnSpc>
            </a:pPr>
            <a:endParaRPr lang="en-US" sz="1947" b="1">
              <a:solidFill>
                <a:srgbClr val="FFFFFF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algn="l">
              <a:lnSpc>
                <a:spcPts val="2727"/>
              </a:lnSpc>
            </a:pPr>
            <a:r>
              <a:rPr lang="en-US" sz="1947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-Seller contribution is uneven, where top-performing sellers generate a disproportionately large share of revenue, indicating platform dependency on a small seller base.</a:t>
            </a:r>
          </a:p>
          <a:p>
            <a:pPr algn="l">
              <a:lnSpc>
                <a:spcPts val="2727"/>
              </a:lnSpc>
            </a:pPr>
            <a:endParaRPr lang="en-US" sz="1947" b="1">
              <a:solidFill>
                <a:srgbClr val="FFFFFF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algn="l">
              <a:lnSpc>
                <a:spcPts val="2727"/>
              </a:lnSpc>
            </a:pPr>
            <a:r>
              <a:rPr lang="en-US" sz="1947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-Monthly sales trends indicate fluctuations across periods, suggesting the presence of seasonal demand patterns.</a:t>
            </a:r>
          </a:p>
          <a:p>
            <a:pPr algn="l">
              <a:lnSpc>
                <a:spcPts val="2727"/>
              </a:lnSpc>
            </a:pPr>
            <a:endParaRPr lang="en-US" sz="1947" b="1">
              <a:solidFill>
                <a:srgbClr val="FFFFFF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algn="l">
              <a:lnSpc>
                <a:spcPts val="2727"/>
              </a:lnSpc>
            </a:pPr>
            <a:r>
              <a:rPr lang="en-US" sz="1947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-Overall, while the platform demonstrates strong order volume and revenue generation, it faces critical challenges in customer          retention, revenue concentration, and seller dependency, which present opportunities for strategic improvement.</a:t>
            </a:r>
          </a:p>
          <a:p>
            <a:pPr algn="l">
              <a:lnSpc>
                <a:spcPts val="2142"/>
              </a:lnSpc>
            </a:pPr>
            <a:endParaRPr lang="en-US" sz="1947" b="1">
              <a:solidFill>
                <a:srgbClr val="FFFFFF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algn="l">
              <a:lnSpc>
                <a:spcPts val="2142"/>
              </a:lnSpc>
            </a:pPr>
            <a:endParaRPr lang="en-US" sz="1947" b="1">
              <a:solidFill>
                <a:srgbClr val="FFFFFF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algn="just">
              <a:lnSpc>
                <a:spcPts val="2142"/>
              </a:lnSpc>
            </a:pPr>
            <a:endParaRPr lang="en-US" sz="1947" b="1">
              <a:solidFill>
                <a:srgbClr val="FFFFFF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algn="just">
              <a:lnSpc>
                <a:spcPts val="2004"/>
              </a:lnSpc>
            </a:pPr>
            <a:endParaRPr lang="en-US" sz="1947" b="1">
              <a:solidFill>
                <a:srgbClr val="FFFFFF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algn="just">
              <a:lnSpc>
                <a:spcPts val="2004"/>
              </a:lnSpc>
            </a:pPr>
            <a:endParaRPr lang="en-US" sz="1947" b="1">
              <a:solidFill>
                <a:srgbClr val="FFFFFF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algn="just">
              <a:lnSpc>
                <a:spcPts val="2004"/>
              </a:lnSpc>
            </a:pPr>
            <a:endParaRPr lang="en-US" sz="1947" b="1">
              <a:solidFill>
                <a:srgbClr val="FFFFFF"/>
              </a:solidFill>
              <a:latin typeface="Agrandir Bold"/>
              <a:ea typeface="Agrandir Bold"/>
              <a:cs typeface="Agrandir Bold"/>
              <a:sym typeface="Agrandir Bold"/>
            </a:endParaRPr>
          </a:p>
          <a:p>
            <a:pPr algn="just">
              <a:lnSpc>
                <a:spcPts val="2004"/>
              </a:lnSpc>
              <a:spcBef>
                <a:spcPct val="0"/>
              </a:spcBef>
            </a:pPr>
            <a:endParaRPr lang="en-US" sz="1947" b="1">
              <a:solidFill>
                <a:srgbClr val="FFFFFF"/>
              </a:solidFill>
              <a:latin typeface="Agrandir Bold"/>
              <a:ea typeface="Agrandir Bold"/>
              <a:cs typeface="Agrandir Bold"/>
              <a:sym typeface="Agrandir Bold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457381" y="4644637"/>
            <a:ext cx="2515986" cy="2515986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657225" cap="sq">
              <a:gradFill>
                <a:gsLst>
                  <a:gs pos="0">
                    <a:srgbClr val="B4EAFF">
                      <a:alpha val="63000"/>
                    </a:srgbClr>
                  </a:gs>
                  <a:gs pos="100000">
                    <a:srgbClr val="0078A8">
                      <a:alpha val="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4502298" y="-17821"/>
            <a:ext cx="8839171" cy="1504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0500"/>
              </a:lnSpc>
              <a:spcBef>
                <a:spcPct val="0"/>
              </a:spcBef>
            </a:pPr>
            <a:r>
              <a:rPr lang="en-US" sz="7500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Recommendations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60979" y="1449029"/>
            <a:ext cx="17366043" cy="85282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63"/>
              </a:lnSpc>
              <a:spcBef>
                <a:spcPct val="0"/>
              </a:spcBef>
            </a:pPr>
            <a:r>
              <a:rPr lang="en-US" sz="2116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-Enhance Customer Retention:</a:t>
            </a:r>
          </a:p>
          <a:p>
            <a:pPr algn="l">
              <a:lnSpc>
                <a:spcPts val="2963"/>
              </a:lnSpc>
              <a:spcBef>
                <a:spcPct val="0"/>
              </a:spcBef>
            </a:pPr>
            <a:r>
              <a:rPr lang="en-US" sz="2116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Implement loyalty programs, personalized offers, and remarketing strategies to convert one-time buyers into repeat customers, increasing customer lifetime value (CLV).</a:t>
            </a:r>
          </a:p>
          <a:p>
            <a:pPr algn="l">
              <a:lnSpc>
                <a:spcPts val="2963"/>
              </a:lnSpc>
              <a:spcBef>
                <a:spcPct val="0"/>
              </a:spcBef>
            </a:pPr>
            <a:endParaRPr lang="en-US" sz="2116" b="1">
              <a:solidFill>
                <a:srgbClr val="FFFFFF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l">
              <a:lnSpc>
                <a:spcPts val="2963"/>
              </a:lnSpc>
              <a:spcBef>
                <a:spcPct val="0"/>
              </a:spcBef>
            </a:pPr>
            <a:r>
              <a:rPr lang="en-US" sz="2116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-Leverage Installment Payments:</a:t>
            </a:r>
          </a:p>
          <a:p>
            <a:pPr algn="l">
              <a:lnSpc>
                <a:spcPts val="2963"/>
              </a:lnSpc>
              <a:spcBef>
                <a:spcPct val="0"/>
              </a:spcBef>
            </a:pPr>
            <a:r>
              <a:rPr lang="en-US" sz="2116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With 49.42% of orders using installments, expand and promote flexible payment options to boost conversion rates and average order value.</a:t>
            </a:r>
          </a:p>
          <a:p>
            <a:pPr algn="l">
              <a:lnSpc>
                <a:spcPts val="2963"/>
              </a:lnSpc>
              <a:spcBef>
                <a:spcPct val="0"/>
              </a:spcBef>
            </a:pPr>
            <a:endParaRPr lang="en-US" sz="2116" b="1">
              <a:solidFill>
                <a:srgbClr val="FFFFFF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l">
              <a:lnSpc>
                <a:spcPts val="2963"/>
              </a:lnSpc>
              <a:spcBef>
                <a:spcPct val="0"/>
              </a:spcBef>
            </a:pPr>
            <a:r>
              <a:rPr lang="en-US" sz="2116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-Diversify Seller Base:</a:t>
            </a:r>
          </a:p>
          <a:p>
            <a:pPr algn="l">
              <a:lnSpc>
                <a:spcPts val="2963"/>
              </a:lnSpc>
              <a:spcBef>
                <a:spcPct val="0"/>
              </a:spcBef>
            </a:pPr>
            <a:r>
              <a:rPr lang="en-US" sz="2116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Reduce dependency on top sellers by onboarding and supporting new sellers, ensuring risk mitigation and stable revenue distribution.</a:t>
            </a:r>
          </a:p>
          <a:p>
            <a:pPr algn="l">
              <a:lnSpc>
                <a:spcPts val="2963"/>
              </a:lnSpc>
              <a:spcBef>
                <a:spcPct val="0"/>
              </a:spcBef>
            </a:pPr>
            <a:endParaRPr lang="en-US" sz="2116" b="1">
              <a:solidFill>
                <a:srgbClr val="FFFFFF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l">
              <a:lnSpc>
                <a:spcPts val="2963"/>
              </a:lnSpc>
              <a:spcBef>
                <a:spcPct val="0"/>
              </a:spcBef>
            </a:pPr>
            <a:r>
              <a:rPr lang="en-US" sz="2116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-Focus on High-Performing Categories:</a:t>
            </a:r>
          </a:p>
          <a:p>
            <a:pPr algn="l">
              <a:lnSpc>
                <a:spcPts val="2963"/>
              </a:lnSpc>
              <a:spcBef>
                <a:spcPct val="0"/>
              </a:spcBef>
            </a:pPr>
            <a:r>
              <a:rPr lang="en-US" sz="2116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Invest in marketing and inventory for top-selling categories to maximize revenue growth and ROI.</a:t>
            </a:r>
          </a:p>
          <a:p>
            <a:pPr algn="l">
              <a:lnSpc>
                <a:spcPts val="2963"/>
              </a:lnSpc>
              <a:spcBef>
                <a:spcPct val="0"/>
              </a:spcBef>
            </a:pPr>
            <a:endParaRPr lang="en-US" sz="2116" b="1">
              <a:solidFill>
                <a:srgbClr val="FFFFFF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l">
              <a:lnSpc>
                <a:spcPts val="2963"/>
              </a:lnSpc>
              <a:spcBef>
                <a:spcPct val="0"/>
              </a:spcBef>
            </a:pPr>
            <a:r>
              <a:rPr lang="en-US" sz="2116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-Improve Customer Engagement:</a:t>
            </a:r>
          </a:p>
          <a:p>
            <a:pPr algn="l">
              <a:lnSpc>
                <a:spcPts val="2963"/>
              </a:lnSpc>
              <a:spcBef>
                <a:spcPct val="0"/>
              </a:spcBef>
            </a:pPr>
            <a:r>
              <a:rPr lang="en-US" sz="2116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Use targeted campaigns (email, recommendations) to increase repeat purchase rate and customer stickiness.</a:t>
            </a:r>
          </a:p>
          <a:p>
            <a:pPr algn="l">
              <a:lnSpc>
                <a:spcPts val="2963"/>
              </a:lnSpc>
              <a:spcBef>
                <a:spcPct val="0"/>
              </a:spcBef>
            </a:pPr>
            <a:endParaRPr lang="en-US" sz="2116" b="1">
              <a:solidFill>
                <a:srgbClr val="FFFFFF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l">
              <a:lnSpc>
                <a:spcPts val="2963"/>
              </a:lnSpc>
              <a:spcBef>
                <a:spcPct val="0"/>
              </a:spcBef>
            </a:pPr>
            <a:r>
              <a:rPr lang="en-US" sz="2116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-Optimize Seasonal Strategy:</a:t>
            </a:r>
          </a:p>
          <a:p>
            <a:pPr algn="l">
              <a:lnSpc>
                <a:spcPts val="2963"/>
              </a:lnSpc>
              <a:spcBef>
                <a:spcPct val="0"/>
              </a:spcBef>
            </a:pPr>
            <a:r>
              <a:rPr lang="en-US" sz="2116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Align promotions and inventory planning with observed monthly trends to capitalize on peak demand periods.</a:t>
            </a:r>
          </a:p>
          <a:p>
            <a:pPr algn="l">
              <a:lnSpc>
                <a:spcPts val="2963"/>
              </a:lnSpc>
              <a:spcBef>
                <a:spcPct val="0"/>
              </a:spcBef>
            </a:pPr>
            <a:endParaRPr lang="en-US" sz="2116" b="1">
              <a:solidFill>
                <a:srgbClr val="FFFFFF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l">
              <a:lnSpc>
                <a:spcPts val="2963"/>
              </a:lnSpc>
              <a:spcBef>
                <a:spcPct val="0"/>
              </a:spcBef>
            </a:pPr>
            <a:r>
              <a:rPr lang="en-US" sz="2116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These strategies can drive higher revenue, improved customer retention, and a more balanced seller ecosystem, enabling sustainable business growth.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2630150" y="3362325"/>
            <a:ext cx="5657850" cy="5657850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33450" cap="sq">
              <a:gradFill>
                <a:gsLst>
                  <a:gs pos="0">
                    <a:srgbClr val="0078A8">
                      <a:alpha val="0"/>
                    </a:srgbClr>
                  </a:gs>
                  <a:gs pos="100000">
                    <a:srgbClr val="036E99">
                      <a:alpha val="6300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2583110" y="3068708"/>
            <a:ext cx="751113" cy="587234"/>
          </a:xfrm>
          <a:custGeom>
            <a:avLst/>
            <a:gdLst/>
            <a:ahLst/>
            <a:cxnLst/>
            <a:rect l="l" t="t" r="r" b="b"/>
            <a:pathLst>
              <a:path w="751113" h="587234">
                <a:moveTo>
                  <a:pt x="0" y="0"/>
                </a:moveTo>
                <a:lnTo>
                  <a:pt x="751113" y="0"/>
                </a:lnTo>
                <a:lnTo>
                  <a:pt x="751113" y="587234"/>
                </a:lnTo>
                <a:lnTo>
                  <a:pt x="0" y="58723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1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2583110" y="3530459"/>
            <a:ext cx="6426867" cy="2356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6574"/>
              </a:lnSpc>
              <a:spcBef>
                <a:spcPct val="0"/>
              </a:spcBef>
            </a:pPr>
            <a:r>
              <a:rPr lang="en-US" sz="11838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Thank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954101" y="3530459"/>
            <a:ext cx="3516883" cy="2356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6574"/>
              </a:lnSpc>
              <a:spcBef>
                <a:spcPct val="0"/>
              </a:spcBef>
            </a:pPr>
            <a:r>
              <a:rPr lang="en-US" sz="11838" b="1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You.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464055" y="9139538"/>
            <a:ext cx="1053767" cy="374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3"/>
              </a:lnSpc>
              <a:spcBef>
                <a:spcPct val="0"/>
              </a:spcBef>
            </a:pPr>
            <a:r>
              <a:rPr lang="en-US" sz="1902">
                <a:solidFill>
                  <a:srgbClr val="FFFFFF"/>
                </a:solidFill>
                <a:latin typeface="Agrandir"/>
                <a:ea typeface="Agrandir"/>
                <a:cs typeface="Agrandir"/>
                <a:sym typeface="Agrandir"/>
              </a:rPr>
              <a:t>page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1000</Words>
  <Application>Microsoft Office PowerPoint</Application>
  <PresentationFormat>Custom</PresentationFormat>
  <Paragraphs>160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Agrandir Bold</vt:lpstr>
      <vt:lpstr>Canva Sans Bold</vt:lpstr>
      <vt:lpstr>Calibri</vt:lpstr>
      <vt:lpstr>Agrandir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and Black Modern Brand Marketing Presentation</dc:title>
  <dc:creator>HP</dc:creator>
  <cp:lastModifiedBy>gouri sharma</cp:lastModifiedBy>
  <cp:revision>1</cp:revision>
  <dcterms:created xsi:type="dcterms:W3CDTF">2006-08-16T00:00:00Z</dcterms:created>
  <dcterms:modified xsi:type="dcterms:W3CDTF">2026-04-20T07:19:01Z</dcterms:modified>
  <dc:identifier>DAHHXD_u_WM</dc:identifier>
</cp:coreProperties>
</file>