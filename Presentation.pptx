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8288000" cy="10287000"/>
  <p:notesSz cx="6858000" cy="9144000"/>
  <p:embeddedFontLst>
    <p:embeddedFont>
      <p:font typeface="Luktao Bold" panose="020B0604020202020204" charset="-34"/>
      <p:regular r:id="rId21"/>
    </p:embeddedFont>
    <p:embeddedFont>
      <p:font typeface="Nourd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1" d="100"/>
          <a:sy n="51" d="100"/>
        </p:scale>
        <p:origin x="72" y="37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image" Target="../media/image11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.svg"/><Relationship Id="rId7" Type="http://schemas.openxmlformats.org/officeDocument/2006/relationships/image" Target="../media/image15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.svg"/><Relationship Id="rId7" Type="http://schemas.openxmlformats.org/officeDocument/2006/relationships/image" Target="../media/image19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.svg"/><Relationship Id="rId7" Type="http://schemas.openxmlformats.org/officeDocument/2006/relationships/image" Target="../media/image23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.svg"/><Relationship Id="rId7" Type="http://schemas.openxmlformats.org/officeDocument/2006/relationships/image" Target="../media/image27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.svg"/><Relationship Id="rId7" Type="http://schemas.openxmlformats.org/officeDocument/2006/relationships/image" Target="../media/image31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2.svg"/><Relationship Id="rId7" Type="http://schemas.openxmlformats.org/officeDocument/2006/relationships/image" Target="../media/image35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2.svg"/><Relationship Id="rId7" Type="http://schemas.openxmlformats.org/officeDocument/2006/relationships/image" Target="../media/image39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2.svg"/><Relationship Id="rId7" Type="http://schemas.openxmlformats.org/officeDocument/2006/relationships/image" Target="../media/image43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2.svg"/><Relationship Id="rId7" Type="http://schemas.openxmlformats.org/officeDocument/2006/relationships/image" Target="../media/image47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4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2.svg"/><Relationship Id="rId7" Type="http://schemas.openxmlformats.org/officeDocument/2006/relationships/image" Target="../media/image51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5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2.svg"/><Relationship Id="rId7" Type="http://schemas.openxmlformats.org/officeDocument/2006/relationships/image" Target="../media/image55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5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2.svg"/><Relationship Id="rId7" Type="http://schemas.openxmlformats.org/officeDocument/2006/relationships/image" Target="../media/image59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6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2.svg"/><Relationship Id="rId7" Type="http://schemas.openxmlformats.org/officeDocument/2006/relationships/image" Target="../media/image63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6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257925" y="28887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73200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 flipH="1" flipV="1">
            <a:off x="35359" y="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2925109" y="2128715"/>
            <a:ext cx="13109152" cy="513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18"/>
              </a:lnSpc>
            </a:pPr>
            <a:r>
              <a:rPr lang="en-US" sz="4156" b="1">
                <a:solidFill>
                  <a:srgbClr val="0166C2"/>
                </a:solidFill>
                <a:latin typeface="Luktao Bold"/>
                <a:ea typeface="Luktao Bold"/>
                <a:cs typeface="Luktao Bold"/>
                <a:sym typeface="Luktao Bold"/>
              </a:rPr>
              <a:t>NAVIGATING THE FUTURE OF ONLINE SHOPPING</a:t>
            </a:r>
          </a:p>
          <a:p>
            <a:pPr algn="ctr">
              <a:lnSpc>
                <a:spcPts val="5818"/>
              </a:lnSpc>
            </a:pPr>
            <a:endParaRPr lang="en-US" sz="4156" b="1">
              <a:solidFill>
                <a:srgbClr val="0166C2"/>
              </a:solidFill>
              <a:latin typeface="Luktao Bold"/>
              <a:ea typeface="Luktao Bold"/>
              <a:cs typeface="Luktao Bold"/>
              <a:sym typeface="Luktao Bold"/>
            </a:endParaRPr>
          </a:p>
          <a:p>
            <a:pPr algn="ctr">
              <a:lnSpc>
                <a:spcPts val="5818"/>
              </a:lnSpc>
            </a:pPr>
            <a:endParaRPr lang="en-US" sz="4156" b="1">
              <a:solidFill>
                <a:srgbClr val="0166C2"/>
              </a:solidFill>
              <a:latin typeface="Luktao Bold"/>
              <a:ea typeface="Luktao Bold"/>
              <a:cs typeface="Luktao Bold"/>
              <a:sym typeface="Luktao Bold"/>
            </a:endParaRPr>
          </a:p>
          <a:p>
            <a:pPr algn="ctr">
              <a:lnSpc>
                <a:spcPts val="5818"/>
              </a:lnSpc>
            </a:pPr>
            <a:r>
              <a:rPr lang="en-US" sz="4156" b="1">
                <a:solidFill>
                  <a:srgbClr val="0166C2"/>
                </a:solidFill>
                <a:latin typeface="Luktao Bold"/>
                <a:ea typeface="Luktao Bold"/>
                <a:cs typeface="Luktao Bold"/>
                <a:sym typeface="Luktao Bold"/>
              </a:rPr>
              <a:t>E-COMMERCE DATA ANALYSIS USING SQL &amp; PYTHON</a:t>
            </a:r>
          </a:p>
          <a:p>
            <a:pPr algn="ctr">
              <a:lnSpc>
                <a:spcPts val="5818"/>
              </a:lnSpc>
            </a:pPr>
            <a:endParaRPr lang="en-US" sz="4156" b="1">
              <a:solidFill>
                <a:srgbClr val="0166C2"/>
              </a:solidFill>
              <a:latin typeface="Luktao Bold"/>
              <a:ea typeface="Luktao Bold"/>
              <a:cs typeface="Luktao Bold"/>
              <a:sym typeface="Luktao Bold"/>
            </a:endParaRPr>
          </a:p>
          <a:p>
            <a:pPr algn="ctr">
              <a:lnSpc>
                <a:spcPts val="5818"/>
              </a:lnSpc>
            </a:pPr>
            <a:endParaRPr lang="en-US" sz="4156" b="1">
              <a:solidFill>
                <a:srgbClr val="0166C2"/>
              </a:solidFill>
              <a:latin typeface="Luktao Bold"/>
              <a:ea typeface="Luktao Bold"/>
              <a:cs typeface="Luktao Bold"/>
              <a:sym typeface="Luktao Bold"/>
            </a:endParaRPr>
          </a:p>
        </p:txBody>
      </p:sp>
      <p:sp>
        <p:nvSpPr>
          <p:cNvPr id="6" name="Freeform 6"/>
          <p:cNvSpPr/>
          <p:nvPr/>
        </p:nvSpPr>
        <p:spPr>
          <a:xfrm>
            <a:off x="35359" y="5329892"/>
            <a:ext cx="9444327" cy="4928221"/>
          </a:xfrm>
          <a:custGeom>
            <a:avLst/>
            <a:gdLst/>
            <a:ahLst/>
            <a:cxnLst/>
            <a:rect l="l" t="t" r="r" b="b"/>
            <a:pathLst>
              <a:path w="9444327" h="4928221">
                <a:moveTo>
                  <a:pt x="0" y="0"/>
                </a:moveTo>
                <a:lnTo>
                  <a:pt x="9444326" y="0"/>
                </a:lnTo>
                <a:lnTo>
                  <a:pt x="9444326" y="4928221"/>
                </a:lnTo>
                <a:lnTo>
                  <a:pt x="0" y="49282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14427606" y="6172200"/>
            <a:ext cx="2174081" cy="2174081"/>
          </a:xfrm>
          <a:custGeom>
            <a:avLst/>
            <a:gdLst/>
            <a:ahLst/>
            <a:cxnLst/>
            <a:rect l="l" t="t" r="r" b="b"/>
            <a:pathLst>
              <a:path w="2174081" h="2174081">
                <a:moveTo>
                  <a:pt x="0" y="0"/>
                </a:moveTo>
                <a:lnTo>
                  <a:pt x="2174081" y="0"/>
                </a:lnTo>
                <a:lnTo>
                  <a:pt x="2174081" y="2174081"/>
                </a:lnTo>
                <a:lnTo>
                  <a:pt x="0" y="21740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604698" y="650011"/>
            <a:ext cx="2690952" cy="1345476"/>
          </a:xfrm>
          <a:custGeom>
            <a:avLst/>
            <a:gdLst/>
            <a:ahLst/>
            <a:cxnLst/>
            <a:rect l="l" t="t" r="r" b="b"/>
            <a:pathLst>
              <a:path w="2690952" h="1345476">
                <a:moveTo>
                  <a:pt x="0" y="0"/>
                </a:moveTo>
                <a:lnTo>
                  <a:pt x="2690952" y="0"/>
                </a:lnTo>
                <a:lnTo>
                  <a:pt x="2690952" y="1345476"/>
                </a:lnTo>
                <a:lnTo>
                  <a:pt x="0" y="1345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TextBox 9"/>
          <p:cNvSpPr txBox="1"/>
          <p:nvPr/>
        </p:nvSpPr>
        <p:spPr>
          <a:xfrm>
            <a:off x="7037594" y="8554247"/>
            <a:ext cx="4884182" cy="7040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18"/>
              </a:lnSpc>
              <a:spcBef>
                <a:spcPct val="0"/>
              </a:spcBef>
            </a:pPr>
            <a:r>
              <a:rPr lang="en-US" sz="4156" b="1">
                <a:solidFill>
                  <a:srgbClr val="0166C2"/>
                </a:solidFill>
                <a:latin typeface="Luktao Bold"/>
                <a:ea typeface="Luktao Bold"/>
                <a:cs typeface="Luktao Bold"/>
                <a:sym typeface="Luktao Bold"/>
              </a:rPr>
              <a:t>BY- GOURI SHARMA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479741" y="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37841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 flipH="1" flipV="1">
            <a:off x="35359" y="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3473048" y="3634915"/>
            <a:ext cx="12359548" cy="3789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06"/>
              </a:lnSpc>
            </a:pPr>
            <a:r>
              <a:rPr lang="en-US" sz="3076">
                <a:solidFill>
                  <a:srgbClr val="0166C2"/>
                </a:solidFill>
                <a:latin typeface="Nourd"/>
                <a:ea typeface="Nourd"/>
                <a:cs typeface="Nourd"/>
                <a:sym typeface="Nourd"/>
              </a:rPr>
              <a:t>The dataset represents a multi-category e-commerce platform connecting customers and sellers across various regions. The platform facilitates online transactions, offering a wide range of products with multiple payment options including installments.</a:t>
            </a:r>
          </a:p>
          <a:p>
            <a:pPr algn="just">
              <a:lnSpc>
                <a:spcPts val="4306"/>
              </a:lnSpc>
            </a:pPr>
            <a:r>
              <a:rPr lang="en-US" sz="3076">
                <a:solidFill>
                  <a:srgbClr val="0166C2"/>
                </a:solidFill>
                <a:latin typeface="Nourd"/>
                <a:ea typeface="Nourd"/>
                <a:cs typeface="Nourd"/>
                <a:sym typeface="Nourd"/>
              </a:rPr>
              <a:t>With increasing competition in the e-commerce space,                        understanding customer behavior, sales performance, and seller contribution is crucial for business growth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150159" y="1595523"/>
            <a:ext cx="9987683" cy="1558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780"/>
              </a:lnSpc>
            </a:pPr>
            <a:r>
              <a:rPr lang="en-US" sz="9129" b="1">
                <a:solidFill>
                  <a:srgbClr val="0166C2"/>
                </a:solidFill>
                <a:latin typeface="Luktao Bold"/>
                <a:ea typeface="Luktao Bold"/>
                <a:cs typeface="Luktao Bold"/>
                <a:sym typeface="Luktao Bold"/>
              </a:rPr>
              <a:t>ABOUT COMPANY</a:t>
            </a:r>
          </a:p>
        </p:txBody>
      </p:sp>
      <p:sp>
        <p:nvSpPr>
          <p:cNvPr id="7" name="Freeform 7"/>
          <p:cNvSpPr/>
          <p:nvPr/>
        </p:nvSpPr>
        <p:spPr>
          <a:xfrm>
            <a:off x="0" y="7423925"/>
            <a:ext cx="5486729" cy="2863075"/>
          </a:xfrm>
          <a:custGeom>
            <a:avLst/>
            <a:gdLst/>
            <a:ahLst/>
            <a:cxnLst/>
            <a:rect l="l" t="t" r="r" b="b"/>
            <a:pathLst>
              <a:path w="5486729" h="2863075">
                <a:moveTo>
                  <a:pt x="0" y="0"/>
                </a:moveTo>
                <a:lnTo>
                  <a:pt x="5486729" y="0"/>
                </a:lnTo>
                <a:lnTo>
                  <a:pt x="5486729" y="2863075"/>
                </a:lnTo>
                <a:lnTo>
                  <a:pt x="0" y="28630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479741" y="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37841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 flipH="1" flipV="1">
            <a:off x="35359" y="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3296066" y="3354740"/>
            <a:ext cx="12359548" cy="4874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06"/>
              </a:lnSpc>
            </a:pPr>
            <a:r>
              <a:rPr lang="en-US" sz="3076">
                <a:solidFill>
                  <a:srgbClr val="0166C2"/>
                </a:solidFill>
                <a:latin typeface="Nourd"/>
                <a:ea typeface="Nourd"/>
                <a:cs typeface="Nourd"/>
                <a:sym typeface="Nourd"/>
              </a:rPr>
              <a:t>•SQL (MySQL) → Data extraction &amp; querying</a:t>
            </a:r>
          </a:p>
          <a:p>
            <a:pPr algn="just">
              <a:lnSpc>
                <a:spcPts val="4306"/>
              </a:lnSpc>
            </a:pPr>
            <a:endParaRPr lang="en-US" sz="3076">
              <a:solidFill>
                <a:srgbClr val="0166C2"/>
              </a:solidFill>
              <a:latin typeface="Nourd"/>
              <a:ea typeface="Nourd"/>
              <a:cs typeface="Nourd"/>
              <a:sym typeface="Nourd"/>
            </a:endParaRPr>
          </a:p>
          <a:p>
            <a:pPr algn="just">
              <a:lnSpc>
                <a:spcPts val="4306"/>
              </a:lnSpc>
            </a:pPr>
            <a:r>
              <a:rPr lang="en-US" sz="3076">
                <a:solidFill>
                  <a:srgbClr val="0166C2"/>
                </a:solidFill>
                <a:latin typeface="Nourd"/>
                <a:ea typeface="Nourd"/>
                <a:cs typeface="Nourd"/>
                <a:sym typeface="Nourd"/>
              </a:rPr>
              <a:t>•Python (Pandas, Matplotlib) → Data analysis &amp; visualization</a:t>
            </a:r>
          </a:p>
          <a:p>
            <a:pPr algn="just">
              <a:lnSpc>
                <a:spcPts val="4306"/>
              </a:lnSpc>
            </a:pPr>
            <a:endParaRPr lang="en-US" sz="3076">
              <a:solidFill>
                <a:srgbClr val="0166C2"/>
              </a:solidFill>
              <a:latin typeface="Nourd"/>
              <a:ea typeface="Nourd"/>
              <a:cs typeface="Nourd"/>
              <a:sym typeface="Nourd"/>
            </a:endParaRPr>
          </a:p>
          <a:p>
            <a:pPr algn="just">
              <a:lnSpc>
                <a:spcPts val="4306"/>
              </a:lnSpc>
            </a:pPr>
            <a:r>
              <a:rPr lang="en-US" sz="3076">
                <a:solidFill>
                  <a:srgbClr val="0166C2"/>
                </a:solidFill>
                <a:latin typeface="Nourd"/>
                <a:ea typeface="Nourd"/>
                <a:cs typeface="Nourd"/>
                <a:sym typeface="Nourd"/>
              </a:rPr>
              <a:t>•Google Colab → Implementation</a:t>
            </a:r>
          </a:p>
          <a:p>
            <a:pPr algn="just">
              <a:lnSpc>
                <a:spcPts val="4306"/>
              </a:lnSpc>
            </a:pPr>
            <a:endParaRPr lang="en-US" sz="3076">
              <a:solidFill>
                <a:srgbClr val="0166C2"/>
              </a:solidFill>
              <a:latin typeface="Nourd"/>
              <a:ea typeface="Nourd"/>
              <a:cs typeface="Nourd"/>
              <a:sym typeface="Nourd"/>
            </a:endParaRPr>
          </a:p>
          <a:p>
            <a:pPr algn="just">
              <a:lnSpc>
                <a:spcPts val="4306"/>
              </a:lnSpc>
            </a:pPr>
            <a:r>
              <a:rPr lang="en-US" sz="3076">
                <a:solidFill>
                  <a:srgbClr val="0166C2"/>
                </a:solidFill>
                <a:latin typeface="Nourd"/>
                <a:ea typeface="Nourd"/>
                <a:cs typeface="Nourd"/>
                <a:sym typeface="Nourd"/>
              </a:rPr>
              <a:t>•Structured workflow: Data Cleaning → Analysis → Visualization → Insights</a:t>
            </a:r>
          </a:p>
          <a:p>
            <a:pPr algn="just">
              <a:lnSpc>
                <a:spcPts val="4306"/>
              </a:lnSpc>
            </a:pPr>
            <a:endParaRPr lang="en-US" sz="3076">
              <a:solidFill>
                <a:srgbClr val="0166C2"/>
              </a:solidFill>
              <a:latin typeface="Nourd"/>
              <a:ea typeface="Nourd"/>
              <a:cs typeface="Nourd"/>
              <a:sym typeface="Nour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4150159" y="1595523"/>
            <a:ext cx="9987683" cy="1558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780"/>
              </a:lnSpc>
            </a:pPr>
            <a:r>
              <a:rPr lang="en-US" sz="9129" b="1">
                <a:solidFill>
                  <a:srgbClr val="0166C2"/>
                </a:solidFill>
                <a:latin typeface="Luktao Bold"/>
                <a:ea typeface="Luktao Bold"/>
                <a:cs typeface="Luktao Bold"/>
                <a:sym typeface="Luktao Bold"/>
              </a:rPr>
              <a:t>TOOLS </a:t>
            </a:r>
          </a:p>
        </p:txBody>
      </p:sp>
      <p:sp>
        <p:nvSpPr>
          <p:cNvPr id="7" name="Freeform 7"/>
          <p:cNvSpPr/>
          <p:nvPr/>
        </p:nvSpPr>
        <p:spPr>
          <a:xfrm>
            <a:off x="0" y="7423925"/>
            <a:ext cx="5486729" cy="2863075"/>
          </a:xfrm>
          <a:custGeom>
            <a:avLst/>
            <a:gdLst/>
            <a:ahLst/>
            <a:cxnLst/>
            <a:rect l="l" t="t" r="r" b="b"/>
            <a:pathLst>
              <a:path w="5486729" h="2863075">
                <a:moveTo>
                  <a:pt x="0" y="0"/>
                </a:moveTo>
                <a:lnTo>
                  <a:pt x="5486729" y="0"/>
                </a:lnTo>
                <a:lnTo>
                  <a:pt x="5486729" y="2863075"/>
                </a:lnTo>
                <a:lnTo>
                  <a:pt x="0" y="28630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15100" y="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73200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0" y="6282684"/>
            <a:ext cx="7673777" cy="4004316"/>
          </a:xfrm>
          <a:custGeom>
            <a:avLst/>
            <a:gdLst/>
            <a:ahLst/>
            <a:cxnLst/>
            <a:rect l="l" t="t" r="r" b="b"/>
            <a:pathLst>
              <a:path w="7673777" h="4004316">
                <a:moveTo>
                  <a:pt x="0" y="0"/>
                </a:moveTo>
                <a:lnTo>
                  <a:pt x="7673777" y="0"/>
                </a:lnTo>
                <a:lnTo>
                  <a:pt x="7673777" y="4004316"/>
                </a:lnTo>
                <a:lnTo>
                  <a:pt x="0" y="40043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15201900" y="7236961"/>
            <a:ext cx="2174081" cy="2174081"/>
          </a:xfrm>
          <a:custGeom>
            <a:avLst/>
            <a:gdLst/>
            <a:ahLst/>
            <a:cxnLst/>
            <a:rect l="l" t="t" r="r" b="b"/>
            <a:pathLst>
              <a:path w="2174081" h="2174081">
                <a:moveTo>
                  <a:pt x="0" y="0"/>
                </a:moveTo>
                <a:lnTo>
                  <a:pt x="2174081" y="0"/>
                </a:lnTo>
                <a:lnTo>
                  <a:pt x="2174081" y="2174081"/>
                </a:lnTo>
                <a:lnTo>
                  <a:pt x="0" y="21740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2690952" cy="1345476"/>
          </a:xfrm>
          <a:custGeom>
            <a:avLst/>
            <a:gdLst/>
            <a:ahLst/>
            <a:cxnLst/>
            <a:rect l="l" t="t" r="r" b="b"/>
            <a:pathLst>
              <a:path w="2690952" h="1345476">
                <a:moveTo>
                  <a:pt x="0" y="0"/>
                </a:moveTo>
                <a:lnTo>
                  <a:pt x="2690952" y="0"/>
                </a:lnTo>
                <a:lnTo>
                  <a:pt x="2690952" y="1345476"/>
                </a:lnTo>
                <a:lnTo>
                  <a:pt x="0" y="1345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11006469" y="3071657"/>
            <a:ext cx="6252831" cy="1626742"/>
          </a:xfrm>
          <a:custGeom>
            <a:avLst/>
            <a:gdLst/>
            <a:ahLst/>
            <a:cxnLst/>
            <a:rect l="l" t="t" r="r" b="b"/>
            <a:pathLst>
              <a:path w="6252831" h="1372024">
                <a:moveTo>
                  <a:pt x="0" y="0"/>
                </a:moveTo>
                <a:lnTo>
                  <a:pt x="6252831" y="0"/>
                </a:lnTo>
                <a:lnTo>
                  <a:pt x="6252831" y="1372024"/>
                </a:lnTo>
                <a:lnTo>
                  <a:pt x="0" y="13720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1370278" y="3071656"/>
            <a:ext cx="7994047" cy="1626743"/>
          </a:xfrm>
          <a:custGeom>
            <a:avLst/>
            <a:gdLst/>
            <a:ahLst/>
            <a:cxnLst/>
            <a:rect l="l" t="t" r="r" b="b"/>
            <a:pathLst>
              <a:path w="7994047" h="935888">
                <a:moveTo>
                  <a:pt x="0" y="0"/>
                </a:moveTo>
                <a:lnTo>
                  <a:pt x="7994047" y="0"/>
                </a:lnTo>
                <a:lnTo>
                  <a:pt x="7994047" y="935888"/>
                </a:lnTo>
                <a:lnTo>
                  <a:pt x="0" y="9358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Freeform 9"/>
          <p:cNvSpPr/>
          <p:nvPr/>
        </p:nvSpPr>
        <p:spPr>
          <a:xfrm>
            <a:off x="10765324" y="5716177"/>
            <a:ext cx="6493976" cy="3849820"/>
          </a:xfrm>
          <a:custGeom>
            <a:avLst/>
            <a:gdLst/>
            <a:ahLst/>
            <a:cxnLst/>
            <a:rect l="l" t="t" r="r" b="b"/>
            <a:pathLst>
              <a:path w="4582474" h="4467912">
                <a:moveTo>
                  <a:pt x="0" y="0"/>
                </a:moveTo>
                <a:lnTo>
                  <a:pt x="4582474" y="0"/>
                </a:lnTo>
                <a:lnTo>
                  <a:pt x="4582474" y="4467912"/>
                </a:lnTo>
                <a:lnTo>
                  <a:pt x="0" y="446791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10"/>
          <p:cNvSpPr/>
          <p:nvPr/>
        </p:nvSpPr>
        <p:spPr>
          <a:xfrm>
            <a:off x="1370278" y="5716177"/>
            <a:ext cx="7994047" cy="3849820"/>
          </a:xfrm>
          <a:custGeom>
            <a:avLst/>
            <a:gdLst/>
            <a:ahLst/>
            <a:cxnLst/>
            <a:rect l="l" t="t" r="r" b="b"/>
            <a:pathLst>
              <a:path w="7994047" h="854273">
                <a:moveTo>
                  <a:pt x="0" y="0"/>
                </a:moveTo>
                <a:lnTo>
                  <a:pt x="7994047" y="0"/>
                </a:lnTo>
                <a:lnTo>
                  <a:pt x="7994047" y="854273"/>
                </a:lnTo>
                <a:lnTo>
                  <a:pt x="0" y="85427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5710" r="-298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1370278" y="4727287"/>
            <a:ext cx="7994047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006469" y="4727287"/>
            <a:ext cx="5699113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70279" y="2086830"/>
            <a:ext cx="7994046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PYTHON CODE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006469" y="2086830"/>
            <a:ext cx="6252831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SQL QUEREY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352138" y="721003"/>
            <a:ext cx="15023843" cy="756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Q1. UNIQUE CITIES WHWRE CUSTOMERS ARE LOCATED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15100" y="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73200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0" y="6282684"/>
            <a:ext cx="7673777" cy="4004316"/>
          </a:xfrm>
          <a:custGeom>
            <a:avLst/>
            <a:gdLst/>
            <a:ahLst/>
            <a:cxnLst/>
            <a:rect l="l" t="t" r="r" b="b"/>
            <a:pathLst>
              <a:path w="7673777" h="4004316">
                <a:moveTo>
                  <a:pt x="0" y="0"/>
                </a:moveTo>
                <a:lnTo>
                  <a:pt x="7673777" y="0"/>
                </a:lnTo>
                <a:lnTo>
                  <a:pt x="7673777" y="4004316"/>
                </a:lnTo>
                <a:lnTo>
                  <a:pt x="0" y="40043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15201900" y="7236961"/>
            <a:ext cx="2174081" cy="2174081"/>
          </a:xfrm>
          <a:custGeom>
            <a:avLst/>
            <a:gdLst/>
            <a:ahLst/>
            <a:cxnLst/>
            <a:rect l="l" t="t" r="r" b="b"/>
            <a:pathLst>
              <a:path w="2174081" h="2174081">
                <a:moveTo>
                  <a:pt x="0" y="0"/>
                </a:moveTo>
                <a:lnTo>
                  <a:pt x="2174081" y="0"/>
                </a:lnTo>
                <a:lnTo>
                  <a:pt x="2174081" y="2174081"/>
                </a:lnTo>
                <a:lnTo>
                  <a:pt x="0" y="21740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2690952" cy="1345476"/>
          </a:xfrm>
          <a:custGeom>
            <a:avLst/>
            <a:gdLst/>
            <a:ahLst/>
            <a:cxnLst/>
            <a:rect l="l" t="t" r="r" b="b"/>
            <a:pathLst>
              <a:path w="2690952" h="1345476">
                <a:moveTo>
                  <a:pt x="0" y="0"/>
                </a:moveTo>
                <a:lnTo>
                  <a:pt x="2690952" y="0"/>
                </a:lnTo>
                <a:lnTo>
                  <a:pt x="2690952" y="1345476"/>
                </a:lnTo>
                <a:lnTo>
                  <a:pt x="0" y="1345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584400" y="2930048"/>
            <a:ext cx="9474000" cy="3800281"/>
          </a:xfrm>
          <a:custGeom>
            <a:avLst/>
            <a:gdLst/>
            <a:ahLst/>
            <a:cxnLst/>
            <a:rect l="l" t="t" r="r" b="b"/>
            <a:pathLst>
              <a:path w="9474000" h="1325972">
                <a:moveTo>
                  <a:pt x="0" y="0"/>
                </a:moveTo>
                <a:lnTo>
                  <a:pt x="9474001" y="0"/>
                </a:lnTo>
                <a:lnTo>
                  <a:pt x="9474001" y="1325972"/>
                </a:lnTo>
                <a:lnTo>
                  <a:pt x="0" y="132597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5255" b="-1918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10591094" y="2967590"/>
            <a:ext cx="7164212" cy="3733852"/>
          </a:xfrm>
          <a:custGeom>
            <a:avLst/>
            <a:gdLst/>
            <a:ahLst/>
            <a:cxnLst/>
            <a:rect l="l" t="t" r="r" b="b"/>
            <a:pathLst>
              <a:path w="7164212" h="1671390">
                <a:moveTo>
                  <a:pt x="0" y="0"/>
                </a:moveTo>
                <a:lnTo>
                  <a:pt x="7164212" y="0"/>
                </a:lnTo>
                <a:lnTo>
                  <a:pt x="7164212" y="1671390"/>
                </a:lnTo>
                <a:lnTo>
                  <a:pt x="0" y="167139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r="-926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Freeform 9"/>
          <p:cNvSpPr/>
          <p:nvPr/>
        </p:nvSpPr>
        <p:spPr>
          <a:xfrm>
            <a:off x="10591094" y="7585574"/>
            <a:ext cx="7133742" cy="2219399"/>
          </a:xfrm>
          <a:custGeom>
            <a:avLst/>
            <a:gdLst/>
            <a:ahLst/>
            <a:cxnLst/>
            <a:rect l="l" t="t" r="r" b="b"/>
            <a:pathLst>
              <a:path w="6839488" h="2468604">
                <a:moveTo>
                  <a:pt x="0" y="0"/>
                </a:moveTo>
                <a:lnTo>
                  <a:pt x="6839489" y="0"/>
                </a:lnTo>
                <a:lnTo>
                  <a:pt x="6839489" y="2468604"/>
                </a:lnTo>
                <a:lnTo>
                  <a:pt x="0" y="24686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t="-22910" b="-2291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10"/>
          <p:cNvSpPr/>
          <p:nvPr/>
        </p:nvSpPr>
        <p:spPr>
          <a:xfrm>
            <a:off x="584400" y="7700432"/>
            <a:ext cx="9473999" cy="2219399"/>
          </a:xfrm>
          <a:custGeom>
            <a:avLst/>
            <a:gdLst/>
            <a:ahLst/>
            <a:cxnLst/>
            <a:rect l="l" t="t" r="r" b="b"/>
            <a:pathLst>
              <a:path w="6405651" h="2219399">
                <a:moveTo>
                  <a:pt x="0" y="0"/>
                </a:moveTo>
                <a:lnTo>
                  <a:pt x="6405651" y="0"/>
                </a:lnTo>
                <a:lnTo>
                  <a:pt x="6405651" y="2219399"/>
                </a:lnTo>
                <a:lnTo>
                  <a:pt x="0" y="221939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12876" r="-11888" b="-1548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494471" y="6755800"/>
            <a:ext cx="9335329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766012" y="6730329"/>
            <a:ext cx="6883658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94471" y="2086830"/>
            <a:ext cx="9335329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PYTHON CODE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591095" y="2086830"/>
            <a:ext cx="7087306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SQL QUEREY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35457" y="612487"/>
            <a:ext cx="15023843" cy="756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Q2. COUNT OF NO. OF ORDERS PLACED IN 2017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15100" y="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73200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0" y="6282684"/>
            <a:ext cx="7673777" cy="4004316"/>
          </a:xfrm>
          <a:custGeom>
            <a:avLst/>
            <a:gdLst/>
            <a:ahLst/>
            <a:cxnLst/>
            <a:rect l="l" t="t" r="r" b="b"/>
            <a:pathLst>
              <a:path w="7673777" h="4004316">
                <a:moveTo>
                  <a:pt x="0" y="0"/>
                </a:moveTo>
                <a:lnTo>
                  <a:pt x="7673777" y="0"/>
                </a:lnTo>
                <a:lnTo>
                  <a:pt x="7673777" y="4004316"/>
                </a:lnTo>
                <a:lnTo>
                  <a:pt x="0" y="40043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15201900" y="7236961"/>
            <a:ext cx="2174081" cy="2174081"/>
          </a:xfrm>
          <a:custGeom>
            <a:avLst/>
            <a:gdLst/>
            <a:ahLst/>
            <a:cxnLst/>
            <a:rect l="l" t="t" r="r" b="b"/>
            <a:pathLst>
              <a:path w="2174081" h="2174081">
                <a:moveTo>
                  <a:pt x="0" y="0"/>
                </a:moveTo>
                <a:lnTo>
                  <a:pt x="2174081" y="0"/>
                </a:lnTo>
                <a:lnTo>
                  <a:pt x="2174081" y="2174081"/>
                </a:lnTo>
                <a:lnTo>
                  <a:pt x="0" y="21740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2690952" cy="1345476"/>
          </a:xfrm>
          <a:custGeom>
            <a:avLst/>
            <a:gdLst/>
            <a:ahLst/>
            <a:cxnLst/>
            <a:rect l="l" t="t" r="r" b="b"/>
            <a:pathLst>
              <a:path w="2690952" h="1345476">
                <a:moveTo>
                  <a:pt x="0" y="0"/>
                </a:moveTo>
                <a:lnTo>
                  <a:pt x="2690952" y="0"/>
                </a:lnTo>
                <a:lnTo>
                  <a:pt x="2690952" y="1345476"/>
                </a:lnTo>
                <a:lnTo>
                  <a:pt x="0" y="1345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9864060" y="2444125"/>
            <a:ext cx="7966739" cy="3187625"/>
          </a:xfrm>
          <a:custGeom>
            <a:avLst/>
            <a:gdLst/>
            <a:ahLst/>
            <a:cxnLst/>
            <a:rect l="l" t="t" r="r" b="b"/>
            <a:pathLst>
              <a:path w="6455747" h="3187625">
                <a:moveTo>
                  <a:pt x="0" y="0"/>
                </a:moveTo>
                <a:lnTo>
                  <a:pt x="6455746" y="0"/>
                </a:lnTo>
                <a:lnTo>
                  <a:pt x="6455746" y="3187626"/>
                </a:lnTo>
                <a:lnTo>
                  <a:pt x="0" y="318762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940008" y="2493984"/>
            <a:ext cx="8228351" cy="3093745"/>
          </a:xfrm>
          <a:custGeom>
            <a:avLst/>
            <a:gdLst/>
            <a:ahLst/>
            <a:cxnLst/>
            <a:rect l="l" t="t" r="r" b="b"/>
            <a:pathLst>
              <a:path w="9253499" h="1285439">
                <a:moveTo>
                  <a:pt x="0" y="0"/>
                </a:moveTo>
                <a:lnTo>
                  <a:pt x="9253499" y="0"/>
                </a:lnTo>
                <a:lnTo>
                  <a:pt x="9253499" y="1285438"/>
                </a:lnTo>
                <a:lnTo>
                  <a:pt x="0" y="12854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4475" t="-10784" r="-4475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Freeform 9"/>
          <p:cNvSpPr/>
          <p:nvPr/>
        </p:nvSpPr>
        <p:spPr>
          <a:xfrm>
            <a:off x="940009" y="6512213"/>
            <a:ext cx="8203992" cy="3640659"/>
          </a:xfrm>
          <a:custGeom>
            <a:avLst/>
            <a:gdLst/>
            <a:ahLst/>
            <a:cxnLst/>
            <a:rect l="l" t="t" r="r" b="b"/>
            <a:pathLst>
              <a:path w="6194457" h="3640659">
                <a:moveTo>
                  <a:pt x="0" y="0"/>
                </a:moveTo>
                <a:lnTo>
                  <a:pt x="6194457" y="0"/>
                </a:lnTo>
                <a:lnTo>
                  <a:pt x="6194457" y="3640659"/>
                </a:lnTo>
                <a:lnTo>
                  <a:pt x="0" y="364065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644" t="-20317" b="-99508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10"/>
          <p:cNvSpPr/>
          <p:nvPr/>
        </p:nvSpPr>
        <p:spPr>
          <a:xfrm>
            <a:off x="9982201" y="6724398"/>
            <a:ext cx="7848598" cy="3419423"/>
          </a:xfrm>
          <a:custGeom>
            <a:avLst/>
            <a:gdLst/>
            <a:ahLst/>
            <a:cxnLst/>
            <a:rect l="l" t="t" r="r" b="b"/>
            <a:pathLst>
              <a:path w="6339065" h="3419423">
                <a:moveTo>
                  <a:pt x="0" y="0"/>
                </a:moveTo>
                <a:lnTo>
                  <a:pt x="6339065" y="0"/>
                </a:lnTo>
                <a:lnTo>
                  <a:pt x="6339065" y="3419423"/>
                </a:lnTo>
                <a:lnTo>
                  <a:pt x="0" y="341942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9995" b="-9995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610561" y="5727100"/>
            <a:ext cx="8533439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832457" y="5834821"/>
            <a:ext cx="6543524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10561" y="1643082"/>
            <a:ext cx="9253499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PYTHON CODE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920235" y="1704043"/>
            <a:ext cx="6910565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SQL QUEREY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887561" y="519191"/>
            <a:ext cx="15023843" cy="756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Q3. TOTAL SALES PER CATEGORY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15100" y="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73200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0" y="6282684"/>
            <a:ext cx="7673777" cy="4004316"/>
          </a:xfrm>
          <a:custGeom>
            <a:avLst/>
            <a:gdLst/>
            <a:ahLst/>
            <a:cxnLst/>
            <a:rect l="l" t="t" r="r" b="b"/>
            <a:pathLst>
              <a:path w="7673777" h="4004316">
                <a:moveTo>
                  <a:pt x="0" y="0"/>
                </a:moveTo>
                <a:lnTo>
                  <a:pt x="7673777" y="0"/>
                </a:lnTo>
                <a:lnTo>
                  <a:pt x="7673777" y="4004316"/>
                </a:lnTo>
                <a:lnTo>
                  <a:pt x="0" y="40043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15201900" y="7236961"/>
            <a:ext cx="2174081" cy="2174081"/>
          </a:xfrm>
          <a:custGeom>
            <a:avLst/>
            <a:gdLst/>
            <a:ahLst/>
            <a:cxnLst/>
            <a:rect l="l" t="t" r="r" b="b"/>
            <a:pathLst>
              <a:path w="2174081" h="2174081">
                <a:moveTo>
                  <a:pt x="0" y="0"/>
                </a:moveTo>
                <a:lnTo>
                  <a:pt x="2174081" y="0"/>
                </a:lnTo>
                <a:lnTo>
                  <a:pt x="2174081" y="2174081"/>
                </a:lnTo>
                <a:lnTo>
                  <a:pt x="0" y="21740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2690952" cy="1345476"/>
          </a:xfrm>
          <a:custGeom>
            <a:avLst/>
            <a:gdLst/>
            <a:ahLst/>
            <a:cxnLst/>
            <a:rect l="l" t="t" r="r" b="b"/>
            <a:pathLst>
              <a:path w="2690952" h="1345476">
                <a:moveTo>
                  <a:pt x="0" y="0"/>
                </a:moveTo>
                <a:lnTo>
                  <a:pt x="2690952" y="0"/>
                </a:lnTo>
                <a:lnTo>
                  <a:pt x="2690952" y="1345476"/>
                </a:lnTo>
                <a:lnTo>
                  <a:pt x="0" y="1345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584882" y="2460270"/>
            <a:ext cx="9627093" cy="3196772"/>
          </a:xfrm>
          <a:custGeom>
            <a:avLst/>
            <a:gdLst/>
            <a:ahLst/>
            <a:cxnLst/>
            <a:rect l="l" t="t" r="r" b="b"/>
            <a:pathLst>
              <a:path w="9627093" h="2108022">
                <a:moveTo>
                  <a:pt x="0" y="0"/>
                </a:moveTo>
                <a:lnTo>
                  <a:pt x="9627093" y="0"/>
                </a:lnTo>
                <a:lnTo>
                  <a:pt x="9627093" y="2108021"/>
                </a:lnTo>
                <a:lnTo>
                  <a:pt x="0" y="21080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3364" t="-450" b="-45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10737110" y="2462514"/>
            <a:ext cx="7354470" cy="3264586"/>
          </a:xfrm>
          <a:custGeom>
            <a:avLst/>
            <a:gdLst/>
            <a:ahLst/>
            <a:cxnLst/>
            <a:rect l="l" t="t" r="r" b="b"/>
            <a:pathLst>
              <a:path w="7354470" h="1654570">
                <a:moveTo>
                  <a:pt x="0" y="0"/>
                </a:moveTo>
                <a:lnTo>
                  <a:pt x="7354470" y="0"/>
                </a:lnTo>
                <a:lnTo>
                  <a:pt x="7354470" y="1654570"/>
                </a:lnTo>
                <a:lnTo>
                  <a:pt x="0" y="16545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2578" b="-93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Freeform 9"/>
          <p:cNvSpPr/>
          <p:nvPr/>
        </p:nvSpPr>
        <p:spPr>
          <a:xfrm>
            <a:off x="584882" y="6736280"/>
            <a:ext cx="9627093" cy="1548562"/>
          </a:xfrm>
          <a:custGeom>
            <a:avLst/>
            <a:gdLst/>
            <a:ahLst/>
            <a:cxnLst/>
            <a:rect l="l" t="t" r="r" b="b"/>
            <a:pathLst>
              <a:path w="9627093" h="1548562">
                <a:moveTo>
                  <a:pt x="0" y="0"/>
                </a:moveTo>
                <a:lnTo>
                  <a:pt x="9627093" y="0"/>
                </a:lnTo>
                <a:lnTo>
                  <a:pt x="9627093" y="1548562"/>
                </a:lnTo>
                <a:lnTo>
                  <a:pt x="0" y="154856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t="-2416" r="-459" b="-2416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10"/>
          <p:cNvSpPr/>
          <p:nvPr/>
        </p:nvSpPr>
        <p:spPr>
          <a:xfrm>
            <a:off x="10737110" y="6587020"/>
            <a:ext cx="7169891" cy="1847081"/>
          </a:xfrm>
          <a:custGeom>
            <a:avLst/>
            <a:gdLst/>
            <a:ahLst/>
            <a:cxnLst/>
            <a:rect l="l" t="t" r="r" b="b"/>
            <a:pathLst>
              <a:path w="6107197" h="1847081">
                <a:moveTo>
                  <a:pt x="0" y="0"/>
                </a:moveTo>
                <a:lnTo>
                  <a:pt x="6107196" y="0"/>
                </a:lnTo>
                <a:lnTo>
                  <a:pt x="6107196" y="1847081"/>
                </a:lnTo>
                <a:lnTo>
                  <a:pt x="0" y="184708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5165" r="-3568" b="-20646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584882" y="5727100"/>
            <a:ext cx="9627093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933531" y="5834821"/>
            <a:ext cx="7354470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266786" y="1704043"/>
            <a:ext cx="4505613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PYTHON CODE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37111" y="1704043"/>
            <a:ext cx="7169890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SQL QUEREY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887561" y="519191"/>
            <a:ext cx="15023843" cy="756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Q4. % OF ORDERS PLACED IN INSTALLMENTS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15100" y="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73200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0" y="6282684"/>
            <a:ext cx="7673777" cy="4004316"/>
          </a:xfrm>
          <a:custGeom>
            <a:avLst/>
            <a:gdLst/>
            <a:ahLst/>
            <a:cxnLst/>
            <a:rect l="l" t="t" r="r" b="b"/>
            <a:pathLst>
              <a:path w="7673777" h="4004316">
                <a:moveTo>
                  <a:pt x="0" y="0"/>
                </a:moveTo>
                <a:lnTo>
                  <a:pt x="7673777" y="0"/>
                </a:lnTo>
                <a:lnTo>
                  <a:pt x="7673777" y="4004316"/>
                </a:lnTo>
                <a:lnTo>
                  <a:pt x="0" y="40043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15201900" y="7236961"/>
            <a:ext cx="2174081" cy="2174081"/>
          </a:xfrm>
          <a:custGeom>
            <a:avLst/>
            <a:gdLst/>
            <a:ahLst/>
            <a:cxnLst/>
            <a:rect l="l" t="t" r="r" b="b"/>
            <a:pathLst>
              <a:path w="2174081" h="2174081">
                <a:moveTo>
                  <a:pt x="0" y="0"/>
                </a:moveTo>
                <a:lnTo>
                  <a:pt x="2174081" y="0"/>
                </a:lnTo>
                <a:lnTo>
                  <a:pt x="2174081" y="2174081"/>
                </a:lnTo>
                <a:lnTo>
                  <a:pt x="0" y="21740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2690952" cy="1345476"/>
          </a:xfrm>
          <a:custGeom>
            <a:avLst/>
            <a:gdLst/>
            <a:ahLst/>
            <a:cxnLst/>
            <a:rect l="l" t="t" r="r" b="b"/>
            <a:pathLst>
              <a:path w="2690952" h="1345476">
                <a:moveTo>
                  <a:pt x="0" y="0"/>
                </a:moveTo>
                <a:lnTo>
                  <a:pt x="2690952" y="0"/>
                </a:lnTo>
                <a:lnTo>
                  <a:pt x="2690952" y="1345476"/>
                </a:lnTo>
                <a:lnTo>
                  <a:pt x="0" y="1345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653836" y="2490875"/>
            <a:ext cx="9549866" cy="3374551"/>
          </a:xfrm>
          <a:custGeom>
            <a:avLst/>
            <a:gdLst/>
            <a:ahLst/>
            <a:cxnLst/>
            <a:rect l="l" t="t" r="r" b="b"/>
            <a:pathLst>
              <a:path w="10514615" h="2014992">
                <a:moveTo>
                  <a:pt x="0" y="0"/>
                </a:moveTo>
                <a:lnTo>
                  <a:pt x="10514615" y="0"/>
                </a:lnTo>
                <a:lnTo>
                  <a:pt x="10514615" y="2014992"/>
                </a:lnTo>
                <a:lnTo>
                  <a:pt x="0" y="201499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822" t="-1059" b="-1059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10710445" y="2490875"/>
            <a:ext cx="7196075" cy="3315059"/>
          </a:xfrm>
          <a:custGeom>
            <a:avLst/>
            <a:gdLst/>
            <a:ahLst/>
            <a:cxnLst/>
            <a:rect l="l" t="t" r="r" b="b"/>
            <a:pathLst>
              <a:path w="6720562" h="2803051">
                <a:moveTo>
                  <a:pt x="0" y="0"/>
                </a:moveTo>
                <a:lnTo>
                  <a:pt x="6720562" y="0"/>
                </a:lnTo>
                <a:lnTo>
                  <a:pt x="6720562" y="2803051"/>
                </a:lnTo>
                <a:lnTo>
                  <a:pt x="0" y="280305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6093" b="-775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Freeform 9"/>
          <p:cNvSpPr/>
          <p:nvPr/>
        </p:nvSpPr>
        <p:spPr>
          <a:xfrm>
            <a:off x="10793274" y="6494907"/>
            <a:ext cx="7196075" cy="3658189"/>
          </a:xfrm>
          <a:custGeom>
            <a:avLst/>
            <a:gdLst/>
            <a:ahLst/>
            <a:cxnLst/>
            <a:rect l="l" t="t" r="r" b="b"/>
            <a:pathLst>
              <a:path w="6720562" h="3658189">
                <a:moveTo>
                  <a:pt x="0" y="0"/>
                </a:moveTo>
                <a:lnTo>
                  <a:pt x="6720562" y="0"/>
                </a:lnTo>
                <a:lnTo>
                  <a:pt x="6720562" y="3658189"/>
                </a:lnTo>
                <a:lnTo>
                  <a:pt x="0" y="365818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t="-1975" b="-32659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10"/>
          <p:cNvSpPr/>
          <p:nvPr/>
        </p:nvSpPr>
        <p:spPr>
          <a:xfrm>
            <a:off x="653836" y="6477087"/>
            <a:ext cx="9526070" cy="3615509"/>
          </a:xfrm>
          <a:custGeom>
            <a:avLst/>
            <a:gdLst/>
            <a:ahLst/>
            <a:cxnLst/>
            <a:rect l="l" t="t" r="r" b="b"/>
            <a:pathLst>
              <a:path w="5475634" h="3615509">
                <a:moveTo>
                  <a:pt x="0" y="0"/>
                </a:moveTo>
                <a:lnTo>
                  <a:pt x="5475634" y="0"/>
                </a:lnTo>
                <a:lnTo>
                  <a:pt x="5475634" y="3615509"/>
                </a:lnTo>
                <a:lnTo>
                  <a:pt x="0" y="361550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30008" b="-136049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278659" y="5727100"/>
            <a:ext cx="10514615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288779" y="5834821"/>
            <a:ext cx="6720562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78660" y="1704043"/>
            <a:ext cx="10514614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PYTHON CODE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268787" y="1704043"/>
            <a:ext cx="6720562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SQL QUEREY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887561" y="519191"/>
            <a:ext cx="15023843" cy="756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Q5. NO. OF CUSTOMERS FROM EACH STATE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15100" y="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73200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0" y="6282684"/>
            <a:ext cx="7673777" cy="4004316"/>
          </a:xfrm>
          <a:custGeom>
            <a:avLst/>
            <a:gdLst/>
            <a:ahLst/>
            <a:cxnLst/>
            <a:rect l="l" t="t" r="r" b="b"/>
            <a:pathLst>
              <a:path w="7673777" h="4004316">
                <a:moveTo>
                  <a:pt x="0" y="0"/>
                </a:moveTo>
                <a:lnTo>
                  <a:pt x="7673777" y="0"/>
                </a:lnTo>
                <a:lnTo>
                  <a:pt x="7673777" y="4004316"/>
                </a:lnTo>
                <a:lnTo>
                  <a:pt x="0" y="40043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15201900" y="7236961"/>
            <a:ext cx="2174081" cy="2174081"/>
          </a:xfrm>
          <a:custGeom>
            <a:avLst/>
            <a:gdLst/>
            <a:ahLst/>
            <a:cxnLst/>
            <a:rect l="l" t="t" r="r" b="b"/>
            <a:pathLst>
              <a:path w="2174081" h="2174081">
                <a:moveTo>
                  <a:pt x="0" y="0"/>
                </a:moveTo>
                <a:lnTo>
                  <a:pt x="2174081" y="0"/>
                </a:lnTo>
                <a:lnTo>
                  <a:pt x="2174081" y="2174081"/>
                </a:lnTo>
                <a:lnTo>
                  <a:pt x="0" y="21740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2690952" cy="1345476"/>
          </a:xfrm>
          <a:custGeom>
            <a:avLst/>
            <a:gdLst/>
            <a:ahLst/>
            <a:cxnLst/>
            <a:rect l="l" t="t" r="r" b="b"/>
            <a:pathLst>
              <a:path w="2690952" h="1345476">
                <a:moveTo>
                  <a:pt x="0" y="0"/>
                </a:moveTo>
                <a:lnTo>
                  <a:pt x="2690952" y="0"/>
                </a:lnTo>
                <a:lnTo>
                  <a:pt x="2690952" y="1345476"/>
                </a:lnTo>
                <a:lnTo>
                  <a:pt x="0" y="1345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10179964" y="2404037"/>
            <a:ext cx="7196017" cy="2954161"/>
          </a:xfrm>
          <a:custGeom>
            <a:avLst/>
            <a:gdLst/>
            <a:ahLst/>
            <a:cxnLst/>
            <a:rect l="l" t="t" r="r" b="b"/>
            <a:pathLst>
              <a:path w="7986473" h="2739462">
                <a:moveTo>
                  <a:pt x="0" y="0"/>
                </a:moveTo>
                <a:lnTo>
                  <a:pt x="7986472" y="0"/>
                </a:lnTo>
                <a:lnTo>
                  <a:pt x="7986472" y="2739462"/>
                </a:lnTo>
                <a:lnTo>
                  <a:pt x="0" y="273946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1295400" y="2599640"/>
            <a:ext cx="8184806" cy="2787445"/>
          </a:xfrm>
          <a:custGeom>
            <a:avLst/>
            <a:gdLst/>
            <a:ahLst/>
            <a:cxnLst/>
            <a:rect l="l" t="t" r="r" b="b"/>
            <a:pathLst>
              <a:path w="9706771" h="1541110">
                <a:moveTo>
                  <a:pt x="0" y="0"/>
                </a:moveTo>
                <a:lnTo>
                  <a:pt x="9706771" y="0"/>
                </a:lnTo>
                <a:lnTo>
                  <a:pt x="9706771" y="1541109"/>
                </a:lnTo>
                <a:lnTo>
                  <a:pt x="0" y="154110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537" b="-353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Freeform 9"/>
          <p:cNvSpPr/>
          <p:nvPr/>
        </p:nvSpPr>
        <p:spPr>
          <a:xfrm>
            <a:off x="10179964" y="6282684"/>
            <a:ext cx="7346035" cy="3776359"/>
          </a:xfrm>
          <a:custGeom>
            <a:avLst/>
            <a:gdLst/>
            <a:ahLst/>
            <a:cxnLst/>
            <a:rect l="l" t="t" r="r" b="b"/>
            <a:pathLst>
              <a:path w="4015843" h="3828673">
                <a:moveTo>
                  <a:pt x="0" y="0"/>
                </a:moveTo>
                <a:lnTo>
                  <a:pt x="4015843" y="0"/>
                </a:lnTo>
                <a:lnTo>
                  <a:pt x="4015843" y="3828673"/>
                </a:lnTo>
                <a:lnTo>
                  <a:pt x="0" y="38286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82" t="-2813" r="-4496" b="-4189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10"/>
          <p:cNvSpPr/>
          <p:nvPr/>
        </p:nvSpPr>
        <p:spPr>
          <a:xfrm>
            <a:off x="1295400" y="6295529"/>
            <a:ext cx="8184806" cy="3763514"/>
          </a:xfrm>
          <a:custGeom>
            <a:avLst/>
            <a:gdLst/>
            <a:ahLst/>
            <a:cxnLst/>
            <a:rect l="l" t="t" r="r" b="b"/>
            <a:pathLst>
              <a:path w="3816713" h="3763514">
                <a:moveTo>
                  <a:pt x="0" y="0"/>
                </a:moveTo>
                <a:lnTo>
                  <a:pt x="3816713" y="0"/>
                </a:lnTo>
                <a:lnTo>
                  <a:pt x="3816713" y="3763514"/>
                </a:lnTo>
                <a:lnTo>
                  <a:pt x="0" y="37635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19273" b="-19273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304800" y="5387086"/>
            <a:ext cx="9448799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179964" y="5387086"/>
            <a:ext cx="7650837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07720" y="1704043"/>
            <a:ext cx="9545879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PYTHON CODE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179965" y="1704043"/>
            <a:ext cx="7650836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SQL QUEREY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887561" y="519191"/>
            <a:ext cx="15023843" cy="756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Q6. NO. OF ORDERS PLACED IN 2018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15100" y="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73200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0" y="6282684"/>
            <a:ext cx="7673777" cy="4004316"/>
          </a:xfrm>
          <a:custGeom>
            <a:avLst/>
            <a:gdLst/>
            <a:ahLst/>
            <a:cxnLst/>
            <a:rect l="l" t="t" r="r" b="b"/>
            <a:pathLst>
              <a:path w="7673777" h="4004316">
                <a:moveTo>
                  <a:pt x="0" y="0"/>
                </a:moveTo>
                <a:lnTo>
                  <a:pt x="7673777" y="0"/>
                </a:lnTo>
                <a:lnTo>
                  <a:pt x="7673777" y="4004316"/>
                </a:lnTo>
                <a:lnTo>
                  <a:pt x="0" y="40043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15201900" y="7236961"/>
            <a:ext cx="2174081" cy="2174081"/>
          </a:xfrm>
          <a:custGeom>
            <a:avLst/>
            <a:gdLst/>
            <a:ahLst/>
            <a:cxnLst/>
            <a:rect l="l" t="t" r="r" b="b"/>
            <a:pathLst>
              <a:path w="2174081" h="2174081">
                <a:moveTo>
                  <a:pt x="0" y="0"/>
                </a:moveTo>
                <a:lnTo>
                  <a:pt x="2174081" y="0"/>
                </a:lnTo>
                <a:lnTo>
                  <a:pt x="2174081" y="2174081"/>
                </a:lnTo>
                <a:lnTo>
                  <a:pt x="0" y="21740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2690952" cy="1345476"/>
          </a:xfrm>
          <a:custGeom>
            <a:avLst/>
            <a:gdLst/>
            <a:ahLst/>
            <a:cxnLst/>
            <a:rect l="l" t="t" r="r" b="b"/>
            <a:pathLst>
              <a:path w="2690952" h="1345476">
                <a:moveTo>
                  <a:pt x="0" y="0"/>
                </a:moveTo>
                <a:lnTo>
                  <a:pt x="2690952" y="0"/>
                </a:lnTo>
                <a:lnTo>
                  <a:pt x="2690952" y="1345476"/>
                </a:lnTo>
                <a:lnTo>
                  <a:pt x="0" y="1345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10524284" y="2460270"/>
            <a:ext cx="6851697" cy="3577612"/>
          </a:xfrm>
          <a:custGeom>
            <a:avLst/>
            <a:gdLst/>
            <a:ahLst/>
            <a:cxnLst/>
            <a:rect l="l" t="t" r="r" b="b"/>
            <a:pathLst>
              <a:path w="5406563" h="3577612">
                <a:moveTo>
                  <a:pt x="0" y="0"/>
                </a:moveTo>
                <a:lnTo>
                  <a:pt x="5406563" y="0"/>
                </a:lnTo>
                <a:lnTo>
                  <a:pt x="5406563" y="3577612"/>
                </a:lnTo>
                <a:lnTo>
                  <a:pt x="0" y="35776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831" b="-83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1143000" y="2361328"/>
            <a:ext cx="8797018" cy="3921355"/>
          </a:xfrm>
          <a:custGeom>
            <a:avLst/>
            <a:gdLst/>
            <a:ahLst/>
            <a:cxnLst/>
            <a:rect l="l" t="t" r="r" b="b"/>
            <a:pathLst>
              <a:path w="9777424" h="1796172">
                <a:moveTo>
                  <a:pt x="0" y="0"/>
                </a:moveTo>
                <a:lnTo>
                  <a:pt x="9777424" y="0"/>
                </a:lnTo>
                <a:lnTo>
                  <a:pt x="9777424" y="1796173"/>
                </a:lnTo>
                <a:lnTo>
                  <a:pt x="0" y="179617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Freeform 9"/>
          <p:cNvSpPr/>
          <p:nvPr/>
        </p:nvSpPr>
        <p:spPr>
          <a:xfrm>
            <a:off x="1143000" y="6962710"/>
            <a:ext cx="8763001" cy="3059587"/>
          </a:xfrm>
          <a:custGeom>
            <a:avLst/>
            <a:gdLst/>
            <a:ahLst/>
            <a:cxnLst/>
            <a:rect l="l" t="t" r="r" b="b"/>
            <a:pathLst>
              <a:path w="3801035" h="3059587">
                <a:moveTo>
                  <a:pt x="0" y="0"/>
                </a:moveTo>
                <a:lnTo>
                  <a:pt x="3801035" y="0"/>
                </a:lnTo>
                <a:lnTo>
                  <a:pt x="3801035" y="3059587"/>
                </a:lnTo>
                <a:lnTo>
                  <a:pt x="0" y="30595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t="-25282" b="-56083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10"/>
          <p:cNvSpPr/>
          <p:nvPr/>
        </p:nvSpPr>
        <p:spPr>
          <a:xfrm>
            <a:off x="10704433" y="7077568"/>
            <a:ext cx="6671547" cy="3013791"/>
          </a:xfrm>
          <a:custGeom>
            <a:avLst/>
            <a:gdLst/>
            <a:ahLst/>
            <a:cxnLst/>
            <a:rect l="l" t="t" r="r" b="b"/>
            <a:pathLst>
              <a:path w="5418577" h="3013791">
                <a:moveTo>
                  <a:pt x="0" y="0"/>
                </a:moveTo>
                <a:lnTo>
                  <a:pt x="5418577" y="0"/>
                </a:lnTo>
                <a:lnTo>
                  <a:pt x="5418577" y="3013791"/>
                </a:lnTo>
                <a:lnTo>
                  <a:pt x="0" y="301379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2286001" y="6206484"/>
            <a:ext cx="6096000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704433" y="6206484"/>
            <a:ext cx="6096000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8734" y="1570693"/>
            <a:ext cx="9575866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PYTHON CODE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336157" y="1570693"/>
            <a:ext cx="7555704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SQL QUEREY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45476" y="415611"/>
            <a:ext cx="16546385" cy="756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Q7. AVG NO. OF PRODUCTS PER ORDER BY CUSTOMER CITY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15100" y="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73200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0" y="6282684"/>
            <a:ext cx="7673777" cy="4004316"/>
          </a:xfrm>
          <a:custGeom>
            <a:avLst/>
            <a:gdLst/>
            <a:ahLst/>
            <a:cxnLst/>
            <a:rect l="l" t="t" r="r" b="b"/>
            <a:pathLst>
              <a:path w="7673777" h="4004316">
                <a:moveTo>
                  <a:pt x="0" y="0"/>
                </a:moveTo>
                <a:lnTo>
                  <a:pt x="7673777" y="0"/>
                </a:lnTo>
                <a:lnTo>
                  <a:pt x="7673777" y="4004316"/>
                </a:lnTo>
                <a:lnTo>
                  <a:pt x="0" y="40043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15201900" y="7236961"/>
            <a:ext cx="2174081" cy="2174081"/>
          </a:xfrm>
          <a:custGeom>
            <a:avLst/>
            <a:gdLst/>
            <a:ahLst/>
            <a:cxnLst/>
            <a:rect l="l" t="t" r="r" b="b"/>
            <a:pathLst>
              <a:path w="2174081" h="2174081">
                <a:moveTo>
                  <a:pt x="0" y="0"/>
                </a:moveTo>
                <a:lnTo>
                  <a:pt x="2174081" y="0"/>
                </a:lnTo>
                <a:lnTo>
                  <a:pt x="2174081" y="2174081"/>
                </a:lnTo>
                <a:lnTo>
                  <a:pt x="0" y="21740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2690952" cy="1345476"/>
          </a:xfrm>
          <a:custGeom>
            <a:avLst/>
            <a:gdLst/>
            <a:ahLst/>
            <a:cxnLst/>
            <a:rect l="l" t="t" r="r" b="b"/>
            <a:pathLst>
              <a:path w="2690952" h="1345476">
                <a:moveTo>
                  <a:pt x="0" y="0"/>
                </a:moveTo>
                <a:lnTo>
                  <a:pt x="2690952" y="0"/>
                </a:lnTo>
                <a:lnTo>
                  <a:pt x="2690952" y="1345476"/>
                </a:lnTo>
                <a:lnTo>
                  <a:pt x="0" y="1345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703861" y="2418486"/>
            <a:ext cx="8605091" cy="4340448"/>
          </a:xfrm>
          <a:custGeom>
            <a:avLst/>
            <a:gdLst/>
            <a:ahLst/>
            <a:cxnLst/>
            <a:rect l="l" t="t" r="r" b="b"/>
            <a:pathLst>
              <a:path w="8605091" h="2791188">
                <a:moveTo>
                  <a:pt x="0" y="0"/>
                </a:moveTo>
                <a:lnTo>
                  <a:pt x="8605090" y="0"/>
                </a:lnTo>
                <a:lnTo>
                  <a:pt x="8605090" y="2791188"/>
                </a:lnTo>
                <a:lnTo>
                  <a:pt x="0" y="27911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10255553" y="2418484"/>
            <a:ext cx="7328585" cy="4340449"/>
          </a:xfrm>
          <a:custGeom>
            <a:avLst/>
            <a:gdLst/>
            <a:ahLst/>
            <a:cxnLst/>
            <a:rect l="l" t="t" r="r" b="b"/>
            <a:pathLst>
              <a:path w="4754650" h="4432014">
                <a:moveTo>
                  <a:pt x="0" y="0"/>
                </a:moveTo>
                <a:lnTo>
                  <a:pt x="4754650" y="0"/>
                </a:lnTo>
                <a:lnTo>
                  <a:pt x="4754650" y="4432014"/>
                </a:lnTo>
                <a:lnTo>
                  <a:pt x="0" y="44320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453" t="-7765" b="-1329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Freeform 9"/>
          <p:cNvSpPr/>
          <p:nvPr/>
        </p:nvSpPr>
        <p:spPr>
          <a:xfrm>
            <a:off x="10322678" y="7438960"/>
            <a:ext cx="7261459" cy="2541953"/>
          </a:xfrm>
          <a:custGeom>
            <a:avLst/>
            <a:gdLst/>
            <a:ahLst/>
            <a:cxnLst/>
            <a:rect l="l" t="t" r="r" b="b"/>
            <a:pathLst>
              <a:path w="6593595" h="2541953">
                <a:moveTo>
                  <a:pt x="0" y="0"/>
                </a:moveTo>
                <a:lnTo>
                  <a:pt x="6593595" y="0"/>
                </a:lnTo>
                <a:lnTo>
                  <a:pt x="6593595" y="2541954"/>
                </a:lnTo>
                <a:lnTo>
                  <a:pt x="0" y="254195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10"/>
          <p:cNvSpPr/>
          <p:nvPr/>
        </p:nvSpPr>
        <p:spPr>
          <a:xfrm>
            <a:off x="703861" y="7438843"/>
            <a:ext cx="8590117" cy="2542071"/>
          </a:xfrm>
          <a:custGeom>
            <a:avLst/>
            <a:gdLst/>
            <a:ahLst/>
            <a:cxnLst/>
            <a:rect l="l" t="t" r="r" b="b"/>
            <a:pathLst>
              <a:path w="5336912" h="2542071">
                <a:moveTo>
                  <a:pt x="0" y="0"/>
                </a:moveTo>
                <a:lnTo>
                  <a:pt x="5336913" y="0"/>
                </a:lnTo>
                <a:lnTo>
                  <a:pt x="5336913" y="2542071"/>
                </a:lnTo>
                <a:lnTo>
                  <a:pt x="0" y="254207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8547" b="-10097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1676400" y="6682734"/>
            <a:ext cx="7026077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718817" y="6682734"/>
            <a:ext cx="7173044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03862" y="1570693"/>
            <a:ext cx="8440138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PYTHON CODE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651693" y="1570693"/>
            <a:ext cx="6724288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SQL QUEREY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45476" y="415611"/>
            <a:ext cx="16546385" cy="756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Q8. REVENUE CONTRIBUTION OF EACH CATEGORY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15100" y="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73200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0" y="6282684"/>
            <a:ext cx="7673777" cy="4004316"/>
          </a:xfrm>
          <a:custGeom>
            <a:avLst/>
            <a:gdLst/>
            <a:ahLst/>
            <a:cxnLst/>
            <a:rect l="l" t="t" r="r" b="b"/>
            <a:pathLst>
              <a:path w="7673777" h="4004316">
                <a:moveTo>
                  <a:pt x="0" y="0"/>
                </a:moveTo>
                <a:lnTo>
                  <a:pt x="7673777" y="0"/>
                </a:lnTo>
                <a:lnTo>
                  <a:pt x="7673777" y="4004316"/>
                </a:lnTo>
                <a:lnTo>
                  <a:pt x="0" y="40043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15201900" y="7236961"/>
            <a:ext cx="2174081" cy="2174081"/>
          </a:xfrm>
          <a:custGeom>
            <a:avLst/>
            <a:gdLst/>
            <a:ahLst/>
            <a:cxnLst/>
            <a:rect l="l" t="t" r="r" b="b"/>
            <a:pathLst>
              <a:path w="2174081" h="2174081">
                <a:moveTo>
                  <a:pt x="0" y="0"/>
                </a:moveTo>
                <a:lnTo>
                  <a:pt x="2174081" y="0"/>
                </a:lnTo>
                <a:lnTo>
                  <a:pt x="2174081" y="2174081"/>
                </a:lnTo>
                <a:lnTo>
                  <a:pt x="0" y="21740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2690952" cy="1345476"/>
          </a:xfrm>
          <a:custGeom>
            <a:avLst/>
            <a:gdLst/>
            <a:ahLst/>
            <a:cxnLst/>
            <a:rect l="l" t="t" r="r" b="b"/>
            <a:pathLst>
              <a:path w="2690952" h="1345476">
                <a:moveTo>
                  <a:pt x="0" y="0"/>
                </a:moveTo>
                <a:lnTo>
                  <a:pt x="2690952" y="0"/>
                </a:lnTo>
                <a:lnTo>
                  <a:pt x="2690952" y="1345476"/>
                </a:lnTo>
                <a:lnTo>
                  <a:pt x="0" y="1345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443216" y="2440765"/>
            <a:ext cx="9175453" cy="4796195"/>
          </a:xfrm>
          <a:custGeom>
            <a:avLst/>
            <a:gdLst/>
            <a:ahLst/>
            <a:cxnLst/>
            <a:rect l="l" t="t" r="r" b="b"/>
            <a:pathLst>
              <a:path w="9175453" h="3222878">
                <a:moveTo>
                  <a:pt x="0" y="0"/>
                </a:moveTo>
                <a:lnTo>
                  <a:pt x="9175453" y="0"/>
                </a:lnTo>
                <a:lnTo>
                  <a:pt x="9175453" y="3222878"/>
                </a:lnTo>
                <a:lnTo>
                  <a:pt x="0" y="322287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10340917" y="2440766"/>
            <a:ext cx="7550945" cy="4767308"/>
          </a:xfrm>
          <a:custGeom>
            <a:avLst/>
            <a:gdLst/>
            <a:ahLst/>
            <a:cxnLst/>
            <a:rect l="l" t="t" r="r" b="b"/>
            <a:pathLst>
              <a:path w="7550945" h="4541154">
                <a:moveTo>
                  <a:pt x="0" y="0"/>
                </a:moveTo>
                <a:lnTo>
                  <a:pt x="7550945" y="0"/>
                </a:lnTo>
                <a:lnTo>
                  <a:pt x="7550945" y="4541154"/>
                </a:lnTo>
                <a:lnTo>
                  <a:pt x="0" y="454115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1211" b="-12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Freeform 9"/>
          <p:cNvSpPr/>
          <p:nvPr/>
        </p:nvSpPr>
        <p:spPr>
          <a:xfrm>
            <a:off x="10515602" y="8170673"/>
            <a:ext cx="7376259" cy="1395055"/>
          </a:xfrm>
          <a:custGeom>
            <a:avLst/>
            <a:gdLst/>
            <a:ahLst/>
            <a:cxnLst/>
            <a:rect l="l" t="t" r="r" b="b"/>
            <a:pathLst>
              <a:path w="4250363" h="1142168">
                <a:moveTo>
                  <a:pt x="0" y="0"/>
                </a:moveTo>
                <a:lnTo>
                  <a:pt x="4250363" y="0"/>
                </a:lnTo>
                <a:lnTo>
                  <a:pt x="4250363" y="1142169"/>
                </a:lnTo>
                <a:lnTo>
                  <a:pt x="0" y="11421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10"/>
          <p:cNvSpPr/>
          <p:nvPr/>
        </p:nvSpPr>
        <p:spPr>
          <a:xfrm>
            <a:off x="443216" y="8296473"/>
            <a:ext cx="9175453" cy="1274695"/>
          </a:xfrm>
          <a:custGeom>
            <a:avLst/>
            <a:gdLst/>
            <a:ahLst/>
            <a:cxnLst/>
            <a:rect l="l" t="t" r="r" b="b"/>
            <a:pathLst>
              <a:path w="4983565" h="817197">
                <a:moveTo>
                  <a:pt x="0" y="0"/>
                </a:moveTo>
                <a:lnTo>
                  <a:pt x="4983565" y="0"/>
                </a:lnTo>
                <a:lnTo>
                  <a:pt x="4983565" y="817197"/>
                </a:lnTo>
                <a:lnTo>
                  <a:pt x="0" y="81719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1905001" y="7362760"/>
            <a:ext cx="6705600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353801" y="7362760"/>
            <a:ext cx="5334000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85800" y="1570693"/>
            <a:ext cx="8839199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PYTHON CODE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340917" y="1570693"/>
            <a:ext cx="7035064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SQL QUEREY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329" y="466557"/>
            <a:ext cx="18161342" cy="1336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95"/>
              </a:lnSpc>
            </a:pPr>
            <a:r>
              <a:rPr lang="en-US" sz="385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Q9.  CORELATION : PRODUCT PRICE VS PURCHASE FREQUENCY</a:t>
            </a:r>
          </a:p>
          <a:p>
            <a:pPr algn="ctr">
              <a:lnSpc>
                <a:spcPts val="5395"/>
              </a:lnSpc>
              <a:spcBef>
                <a:spcPct val="0"/>
              </a:spcBef>
            </a:pPr>
            <a:endParaRPr lang="en-US" sz="3854" b="1">
              <a:solidFill>
                <a:srgbClr val="000000"/>
              </a:solidFill>
              <a:latin typeface="Luktao Bold"/>
              <a:ea typeface="Luktao Bold"/>
              <a:cs typeface="Luktao Bold"/>
              <a:sym typeface="Luktao Bold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15100" y="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73200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0" y="6282684"/>
            <a:ext cx="7673777" cy="4004316"/>
          </a:xfrm>
          <a:custGeom>
            <a:avLst/>
            <a:gdLst/>
            <a:ahLst/>
            <a:cxnLst/>
            <a:rect l="l" t="t" r="r" b="b"/>
            <a:pathLst>
              <a:path w="7673777" h="4004316">
                <a:moveTo>
                  <a:pt x="0" y="0"/>
                </a:moveTo>
                <a:lnTo>
                  <a:pt x="7673777" y="0"/>
                </a:lnTo>
                <a:lnTo>
                  <a:pt x="7673777" y="4004316"/>
                </a:lnTo>
                <a:lnTo>
                  <a:pt x="0" y="40043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15201900" y="7236961"/>
            <a:ext cx="2174081" cy="2174081"/>
          </a:xfrm>
          <a:custGeom>
            <a:avLst/>
            <a:gdLst/>
            <a:ahLst/>
            <a:cxnLst/>
            <a:rect l="l" t="t" r="r" b="b"/>
            <a:pathLst>
              <a:path w="2174081" h="2174081">
                <a:moveTo>
                  <a:pt x="0" y="0"/>
                </a:moveTo>
                <a:lnTo>
                  <a:pt x="2174081" y="0"/>
                </a:lnTo>
                <a:lnTo>
                  <a:pt x="2174081" y="2174081"/>
                </a:lnTo>
                <a:lnTo>
                  <a:pt x="0" y="21740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2690952" cy="1345476"/>
          </a:xfrm>
          <a:custGeom>
            <a:avLst/>
            <a:gdLst/>
            <a:ahLst/>
            <a:cxnLst/>
            <a:rect l="l" t="t" r="r" b="b"/>
            <a:pathLst>
              <a:path w="2690952" h="1345476">
                <a:moveTo>
                  <a:pt x="0" y="0"/>
                </a:moveTo>
                <a:lnTo>
                  <a:pt x="2690952" y="0"/>
                </a:lnTo>
                <a:lnTo>
                  <a:pt x="2690952" y="1345476"/>
                </a:lnTo>
                <a:lnTo>
                  <a:pt x="0" y="1345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653790" y="2442136"/>
            <a:ext cx="9046649" cy="2944949"/>
          </a:xfrm>
          <a:custGeom>
            <a:avLst/>
            <a:gdLst/>
            <a:ahLst/>
            <a:cxnLst/>
            <a:rect l="l" t="t" r="r" b="b"/>
            <a:pathLst>
              <a:path w="9167039" h="1888508">
                <a:moveTo>
                  <a:pt x="0" y="0"/>
                </a:moveTo>
                <a:lnTo>
                  <a:pt x="9167039" y="0"/>
                </a:lnTo>
                <a:lnTo>
                  <a:pt x="9167039" y="1888508"/>
                </a:lnTo>
                <a:lnTo>
                  <a:pt x="0" y="188850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154" r="-215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10675466" y="2443946"/>
            <a:ext cx="6958743" cy="2852295"/>
          </a:xfrm>
          <a:custGeom>
            <a:avLst/>
            <a:gdLst/>
            <a:ahLst/>
            <a:cxnLst/>
            <a:rect l="l" t="t" r="r" b="b"/>
            <a:pathLst>
              <a:path w="6332356" h="1966526">
                <a:moveTo>
                  <a:pt x="0" y="0"/>
                </a:moveTo>
                <a:lnTo>
                  <a:pt x="6332356" y="0"/>
                </a:lnTo>
                <a:lnTo>
                  <a:pt x="6332356" y="1966526"/>
                </a:lnTo>
                <a:lnTo>
                  <a:pt x="0" y="196652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11890" b="-15306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Freeform 9"/>
          <p:cNvSpPr/>
          <p:nvPr/>
        </p:nvSpPr>
        <p:spPr>
          <a:xfrm>
            <a:off x="653790" y="6143313"/>
            <a:ext cx="9046649" cy="3957972"/>
          </a:xfrm>
          <a:custGeom>
            <a:avLst/>
            <a:gdLst/>
            <a:ahLst/>
            <a:cxnLst/>
            <a:rect l="l" t="t" r="r" b="b"/>
            <a:pathLst>
              <a:path w="4982825" h="3957972">
                <a:moveTo>
                  <a:pt x="0" y="0"/>
                </a:moveTo>
                <a:lnTo>
                  <a:pt x="4982825" y="0"/>
                </a:lnTo>
                <a:lnTo>
                  <a:pt x="4982825" y="3957972"/>
                </a:lnTo>
                <a:lnTo>
                  <a:pt x="0" y="395797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t="-1683" b="-1683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10"/>
          <p:cNvSpPr/>
          <p:nvPr/>
        </p:nvSpPr>
        <p:spPr>
          <a:xfrm>
            <a:off x="10611672" y="6257613"/>
            <a:ext cx="7022537" cy="3843672"/>
          </a:xfrm>
          <a:custGeom>
            <a:avLst/>
            <a:gdLst/>
            <a:ahLst/>
            <a:cxnLst/>
            <a:rect l="l" t="t" r="r" b="b"/>
            <a:pathLst>
              <a:path w="6459945" h="2649567">
                <a:moveTo>
                  <a:pt x="0" y="0"/>
                </a:moveTo>
                <a:lnTo>
                  <a:pt x="6459946" y="0"/>
                </a:lnTo>
                <a:lnTo>
                  <a:pt x="6459946" y="2649567"/>
                </a:lnTo>
                <a:lnTo>
                  <a:pt x="0" y="26495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2142" b="-4755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762001" y="5387086"/>
            <a:ext cx="8341464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675467" y="5387086"/>
            <a:ext cx="6164733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53790" y="1570693"/>
            <a:ext cx="9167039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PYTHON CODE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611672" y="1570693"/>
            <a:ext cx="6396151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SQL QUEREY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329" y="466557"/>
            <a:ext cx="18161342" cy="652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95"/>
              </a:lnSpc>
              <a:spcBef>
                <a:spcPct val="0"/>
              </a:spcBef>
            </a:pPr>
            <a:r>
              <a:rPr lang="en-US" sz="385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Q10. REVENUE BY SELLER AND RANKING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15100" y="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73200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0" y="6282684"/>
            <a:ext cx="7673777" cy="4004316"/>
          </a:xfrm>
          <a:custGeom>
            <a:avLst/>
            <a:gdLst/>
            <a:ahLst/>
            <a:cxnLst/>
            <a:rect l="l" t="t" r="r" b="b"/>
            <a:pathLst>
              <a:path w="7673777" h="4004316">
                <a:moveTo>
                  <a:pt x="0" y="0"/>
                </a:moveTo>
                <a:lnTo>
                  <a:pt x="7673777" y="0"/>
                </a:lnTo>
                <a:lnTo>
                  <a:pt x="7673777" y="4004316"/>
                </a:lnTo>
                <a:lnTo>
                  <a:pt x="0" y="40043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15201900" y="7236961"/>
            <a:ext cx="2174081" cy="2174081"/>
          </a:xfrm>
          <a:custGeom>
            <a:avLst/>
            <a:gdLst/>
            <a:ahLst/>
            <a:cxnLst/>
            <a:rect l="l" t="t" r="r" b="b"/>
            <a:pathLst>
              <a:path w="2174081" h="2174081">
                <a:moveTo>
                  <a:pt x="0" y="0"/>
                </a:moveTo>
                <a:lnTo>
                  <a:pt x="2174081" y="0"/>
                </a:lnTo>
                <a:lnTo>
                  <a:pt x="2174081" y="2174081"/>
                </a:lnTo>
                <a:lnTo>
                  <a:pt x="0" y="21740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2690952" cy="1345476"/>
          </a:xfrm>
          <a:custGeom>
            <a:avLst/>
            <a:gdLst/>
            <a:ahLst/>
            <a:cxnLst/>
            <a:rect l="l" t="t" r="r" b="b"/>
            <a:pathLst>
              <a:path w="2690952" h="1345476">
                <a:moveTo>
                  <a:pt x="0" y="0"/>
                </a:moveTo>
                <a:lnTo>
                  <a:pt x="2690952" y="0"/>
                </a:lnTo>
                <a:lnTo>
                  <a:pt x="2690952" y="1345476"/>
                </a:lnTo>
                <a:lnTo>
                  <a:pt x="0" y="1345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996432" y="7792111"/>
            <a:ext cx="7842767" cy="1999454"/>
          </a:xfrm>
          <a:custGeom>
            <a:avLst/>
            <a:gdLst/>
            <a:ahLst/>
            <a:cxnLst/>
            <a:rect l="l" t="t" r="r" b="b"/>
            <a:pathLst>
              <a:path w="8197372" h="1999454">
                <a:moveTo>
                  <a:pt x="0" y="0"/>
                </a:moveTo>
                <a:lnTo>
                  <a:pt x="8197372" y="0"/>
                </a:lnTo>
                <a:lnTo>
                  <a:pt x="8197372" y="1999454"/>
                </a:lnTo>
                <a:lnTo>
                  <a:pt x="0" y="19994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1214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9698450" y="7738914"/>
            <a:ext cx="7838452" cy="1999454"/>
          </a:xfrm>
          <a:custGeom>
            <a:avLst/>
            <a:gdLst/>
            <a:ahLst/>
            <a:cxnLst/>
            <a:rect l="l" t="t" r="r" b="b"/>
            <a:pathLst>
              <a:path w="8056905" h="1037327">
                <a:moveTo>
                  <a:pt x="0" y="0"/>
                </a:moveTo>
                <a:lnTo>
                  <a:pt x="8056906" y="0"/>
                </a:lnTo>
                <a:lnTo>
                  <a:pt x="8056906" y="1037326"/>
                </a:lnTo>
                <a:lnTo>
                  <a:pt x="0" y="103732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Freeform 9"/>
          <p:cNvSpPr/>
          <p:nvPr/>
        </p:nvSpPr>
        <p:spPr>
          <a:xfrm>
            <a:off x="996433" y="1869648"/>
            <a:ext cx="7842767" cy="5242445"/>
          </a:xfrm>
          <a:custGeom>
            <a:avLst/>
            <a:gdLst/>
            <a:ahLst/>
            <a:cxnLst/>
            <a:rect l="l" t="t" r="r" b="b"/>
            <a:pathLst>
              <a:path w="7842767" h="4539001">
                <a:moveTo>
                  <a:pt x="0" y="0"/>
                </a:moveTo>
                <a:lnTo>
                  <a:pt x="7842767" y="0"/>
                </a:lnTo>
                <a:lnTo>
                  <a:pt x="7842767" y="4539001"/>
                </a:lnTo>
                <a:lnTo>
                  <a:pt x="0" y="45390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10"/>
          <p:cNvSpPr/>
          <p:nvPr/>
        </p:nvSpPr>
        <p:spPr>
          <a:xfrm>
            <a:off x="9840703" y="1876518"/>
            <a:ext cx="7696199" cy="5148253"/>
          </a:xfrm>
          <a:custGeom>
            <a:avLst/>
            <a:gdLst/>
            <a:ahLst/>
            <a:cxnLst/>
            <a:rect l="l" t="t" r="r" b="b"/>
            <a:pathLst>
              <a:path w="4924416" h="5148253">
                <a:moveTo>
                  <a:pt x="0" y="0"/>
                </a:moveTo>
                <a:lnTo>
                  <a:pt x="4924417" y="0"/>
                </a:lnTo>
                <a:lnTo>
                  <a:pt x="4924417" y="5148254"/>
                </a:lnTo>
                <a:lnTo>
                  <a:pt x="0" y="51482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1028700" y="7160761"/>
            <a:ext cx="7673777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684708" y="7083981"/>
            <a:ext cx="7838453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01234" y="1230679"/>
            <a:ext cx="7842766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PYTHON CODE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140434" y="1206665"/>
            <a:ext cx="6658659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SQL QUEREY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0311" y="9442"/>
            <a:ext cx="18161342" cy="1336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95"/>
              </a:lnSpc>
              <a:spcBef>
                <a:spcPct val="0"/>
              </a:spcBef>
            </a:pPr>
            <a:r>
              <a:rPr lang="en-US" sz="385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Q11.MOVING AVERAGE OF ORDER VALUES FOR EACH CUSTOMER OVER THEIR ORDER HISTORY.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15100" y="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73200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0" y="6282684"/>
            <a:ext cx="7673777" cy="4004316"/>
          </a:xfrm>
          <a:custGeom>
            <a:avLst/>
            <a:gdLst/>
            <a:ahLst/>
            <a:cxnLst/>
            <a:rect l="l" t="t" r="r" b="b"/>
            <a:pathLst>
              <a:path w="7673777" h="4004316">
                <a:moveTo>
                  <a:pt x="0" y="0"/>
                </a:moveTo>
                <a:lnTo>
                  <a:pt x="7673777" y="0"/>
                </a:lnTo>
                <a:lnTo>
                  <a:pt x="7673777" y="4004316"/>
                </a:lnTo>
                <a:lnTo>
                  <a:pt x="0" y="40043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15201900" y="7236961"/>
            <a:ext cx="2174081" cy="2174081"/>
          </a:xfrm>
          <a:custGeom>
            <a:avLst/>
            <a:gdLst/>
            <a:ahLst/>
            <a:cxnLst/>
            <a:rect l="l" t="t" r="r" b="b"/>
            <a:pathLst>
              <a:path w="2174081" h="2174081">
                <a:moveTo>
                  <a:pt x="0" y="0"/>
                </a:moveTo>
                <a:lnTo>
                  <a:pt x="2174081" y="0"/>
                </a:lnTo>
                <a:lnTo>
                  <a:pt x="2174081" y="2174081"/>
                </a:lnTo>
                <a:lnTo>
                  <a:pt x="0" y="21740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2690952" cy="1345476"/>
          </a:xfrm>
          <a:custGeom>
            <a:avLst/>
            <a:gdLst/>
            <a:ahLst/>
            <a:cxnLst/>
            <a:rect l="l" t="t" r="r" b="b"/>
            <a:pathLst>
              <a:path w="2690952" h="1345476">
                <a:moveTo>
                  <a:pt x="0" y="0"/>
                </a:moveTo>
                <a:lnTo>
                  <a:pt x="2690952" y="0"/>
                </a:lnTo>
                <a:lnTo>
                  <a:pt x="2690952" y="1345476"/>
                </a:lnTo>
                <a:lnTo>
                  <a:pt x="0" y="1345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9935072" y="2357557"/>
            <a:ext cx="7007452" cy="3955764"/>
          </a:xfrm>
          <a:custGeom>
            <a:avLst/>
            <a:gdLst/>
            <a:ahLst/>
            <a:cxnLst/>
            <a:rect l="l" t="t" r="r" b="b"/>
            <a:pathLst>
              <a:path w="4685315" h="3955764">
                <a:moveTo>
                  <a:pt x="0" y="0"/>
                </a:moveTo>
                <a:lnTo>
                  <a:pt x="4685315" y="0"/>
                </a:lnTo>
                <a:lnTo>
                  <a:pt x="4685315" y="3955764"/>
                </a:lnTo>
                <a:lnTo>
                  <a:pt x="0" y="395576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78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10134600" y="7456060"/>
            <a:ext cx="6807924" cy="2416629"/>
          </a:xfrm>
          <a:custGeom>
            <a:avLst/>
            <a:gdLst/>
            <a:ahLst/>
            <a:cxnLst/>
            <a:rect l="l" t="t" r="r" b="b"/>
            <a:pathLst>
              <a:path w="7905740" h="2194945">
                <a:moveTo>
                  <a:pt x="0" y="0"/>
                </a:moveTo>
                <a:lnTo>
                  <a:pt x="7905741" y="0"/>
                </a:lnTo>
                <a:lnTo>
                  <a:pt x="7905741" y="2194945"/>
                </a:lnTo>
                <a:lnTo>
                  <a:pt x="0" y="219494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6831" r="-509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Freeform 9"/>
          <p:cNvSpPr/>
          <p:nvPr/>
        </p:nvSpPr>
        <p:spPr>
          <a:xfrm>
            <a:off x="1345476" y="2359540"/>
            <a:ext cx="7603425" cy="3953781"/>
          </a:xfrm>
          <a:custGeom>
            <a:avLst/>
            <a:gdLst/>
            <a:ahLst/>
            <a:cxnLst/>
            <a:rect l="l" t="t" r="r" b="b"/>
            <a:pathLst>
              <a:path w="7603425" h="3953781">
                <a:moveTo>
                  <a:pt x="0" y="0"/>
                </a:moveTo>
                <a:lnTo>
                  <a:pt x="7603425" y="0"/>
                </a:lnTo>
                <a:lnTo>
                  <a:pt x="7603425" y="3953781"/>
                </a:lnTo>
                <a:lnTo>
                  <a:pt x="0" y="395378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10"/>
          <p:cNvSpPr/>
          <p:nvPr/>
        </p:nvSpPr>
        <p:spPr>
          <a:xfrm>
            <a:off x="1345476" y="7476206"/>
            <a:ext cx="7603425" cy="2396483"/>
          </a:xfrm>
          <a:custGeom>
            <a:avLst/>
            <a:gdLst/>
            <a:ahLst/>
            <a:cxnLst/>
            <a:rect l="l" t="t" r="r" b="b"/>
            <a:pathLst>
              <a:path w="4852664" h="2396483">
                <a:moveTo>
                  <a:pt x="0" y="0"/>
                </a:moveTo>
                <a:lnTo>
                  <a:pt x="4852664" y="0"/>
                </a:lnTo>
                <a:lnTo>
                  <a:pt x="4852664" y="2396482"/>
                </a:lnTo>
                <a:lnTo>
                  <a:pt x="0" y="23964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1524000" y="6480734"/>
            <a:ext cx="7424901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94377" y="6480734"/>
            <a:ext cx="6591694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75125" y="1570693"/>
            <a:ext cx="7673776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PYTHON CODE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94377" y="1570693"/>
            <a:ext cx="7546435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SQL QUEREY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329" y="466557"/>
            <a:ext cx="18161342" cy="652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95"/>
              </a:lnSpc>
              <a:spcBef>
                <a:spcPct val="0"/>
              </a:spcBef>
            </a:pPr>
            <a:r>
              <a:rPr lang="en-US" sz="385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Q12. COMULATIVE SALES PER MONTH OF EACH YEAR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15100" y="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73200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0" y="6282684"/>
            <a:ext cx="7673777" cy="4004316"/>
          </a:xfrm>
          <a:custGeom>
            <a:avLst/>
            <a:gdLst/>
            <a:ahLst/>
            <a:cxnLst/>
            <a:rect l="l" t="t" r="r" b="b"/>
            <a:pathLst>
              <a:path w="7673777" h="4004316">
                <a:moveTo>
                  <a:pt x="0" y="0"/>
                </a:moveTo>
                <a:lnTo>
                  <a:pt x="7673777" y="0"/>
                </a:lnTo>
                <a:lnTo>
                  <a:pt x="7673777" y="4004316"/>
                </a:lnTo>
                <a:lnTo>
                  <a:pt x="0" y="40043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15201900" y="7236961"/>
            <a:ext cx="2174081" cy="2174081"/>
          </a:xfrm>
          <a:custGeom>
            <a:avLst/>
            <a:gdLst/>
            <a:ahLst/>
            <a:cxnLst/>
            <a:rect l="l" t="t" r="r" b="b"/>
            <a:pathLst>
              <a:path w="2174081" h="2174081">
                <a:moveTo>
                  <a:pt x="0" y="0"/>
                </a:moveTo>
                <a:lnTo>
                  <a:pt x="2174081" y="0"/>
                </a:lnTo>
                <a:lnTo>
                  <a:pt x="2174081" y="2174081"/>
                </a:lnTo>
                <a:lnTo>
                  <a:pt x="0" y="21740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2690952" cy="1345476"/>
          </a:xfrm>
          <a:custGeom>
            <a:avLst/>
            <a:gdLst/>
            <a:ahLst/>
            <a:cxnLst/>
            <a:rect l="l" t="t" r="r" b="b"/>
            <a:pathLst>
              <a:path w="2690952" h="1345476">
                <a:moveTo>
                  <a:pt x="0" y="0"/>
                </a:moveTo>
                <a:lnTo>
                  <a:pt x="2690952" y="0"/>
                </a:lnTo>
                <a:lnTo>
                  <a:pt x="2690952" y="1345476"/>
                </a:lnTo>
                <a:lnTo>
                  <a:pt x="0" y="1345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9888142" y="2192282"/>
            <a:ext cx="7256859" cy="4515801"/>
          </a:xfrm>
          <a:custGeom>
            <a:avLst/>
            <a:gdLst/>
            <a:ahLst/>
            <a:cxnLst/>
            <a:rect l="l" t="t" r="r" b="b"/>
            <a:pathLst>
              <a:path w="4869029" h="4280962">
                <a:moveTo>
                  <a:pt x="0" y="0"/>
                </a:moveTo>
                <a:lnTo>
                  <a:pt x="4869029" y="0"/>
                </a:lnTo>
                <a:lnTo>
                  <a:pt x="4869029" y="4280962"/>
                </a:lnTo>
                <a:lnTo>
                  <a:pt x="0" y="428096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237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9888142" y="7802938"/>
            <a:ext cx="7256859" cy="2136982"/>
          </a:xfrm>
          <a:custGeom>
            <a:avLst/>
            <a:gdLst/>
            <a:ahLst/>
            <a:cxnLst/>
            <a:rect l="l" t="t" r="r" b="b"/>
            <a:pathLst>
              <a:path w="6847289" h="1455362">
                <a:moveTo>
                  <a:pt x="0" y="0"/>
                </a:moveTo>
                <a:lnTo>
                  <a:pt x="6847289" y="0"/>
                </a:lnTo>
                <a:lnTo>
                  <a:pt x="6847289" y="1455362"/>
                </a:lnTo>
                <a:lnTo>
                  <a:pt x="0" y="14553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5169" t="-3927" r="-1292" b="-392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Freeform 9"/>
          <p:cNvSpPr/>
          <p:nvPr/>
        </p:nvSpPr>
        <p:spPr>
          <a:xfrm>
            <a:off x="1345476" y="2192283"/>
            <a:ext cx="7158239" cy="4515801"/>
          </a:xfrm>
          <a:custGeom>
            <a:avLst/>
            <a:gdLst/>
            <a:ahLst/>
            <a:cxnLst/>
            <a:rect l="l" t="t" r="r" b="b"/>
            <a:pathLst>
              <a:path w="7158239" h="4515801">
                <a:moveTo>
                  <a:pt x="0" y="0"/>
                </a:moveTo>
                <a:lnTo>
                  <a:pt x="7158239" y="0"/>
                </a:lnTo>
                <a:lnTo>
                  <a:pt x="7158239" y="4515801"/>
                </a:lnTo>
                <a:lnTo>
                  <a:pt x="0" y="45158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t="-625" b="-625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10"/>
          <p:cNvSpPr/>
          <p:nvPr/>
        </p:nvSpPr>
        <p:spPr>
          <a:xfrm>
            <a:off x="1345475" y="7576974"/>
            <a:ext cx="7158240" cy="2443326"/>
          </a:xfrm>
          <a:custGeom>
            <a:avLst/>
            <a:gdLst/>
            <a:ahLst/>
            <a:cxnLst/>
            <a:rect l="l" t="t" r="r" b="b"/>
            <a:pathLst>
              <a:path w="7644938" h="1971623">
                <a:moveTo>
                  <a:pt x="0" y="0"/>
                </a:moveTo>
                <a:lnTo>
                  <a:pt x="7644937" y="0"/>
                </a:lnTo>
                <a:lnTo>
                  <a:pt x="7644937" y="1971623"/>
                </a:lnTo>
                <a:lnTo>
                  <a:pt x="0" y="197162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2651" r="-1840" b="-265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1345476" y="6820747"/>
            <a:ext cx="7357001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888142" y="6798249"/>
            <a:ext cx="7054383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45477" y="1269276"/>
            <a:ext cx="7158238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PYTHON CODE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44201" y="1269276"/>
            <a:ext cx="6400800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SQL QUEREY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329" y="466557"/>
            <a:ext cx="18161342" cy="652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95"/>
              </a:lnSpc>
              <a:spcBef>
                <a:spcPct val="0"/>
              </a:spcBef>
            </a:pPr>
            <a:r>
              <a:rPr lang="en-US" sz="385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Q13 . YEAR ON YEAR GROWTH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15100" y="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73200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0" y="6282684"/>
            <a:ext cx="7673777" cy="4004316"/>
          </a:xfrm>
          <a:custGeom>
            <a:avLst/>
            <a:gdLst/>
            <a:ahLst/>
            <a:cxnLst/>
            <a:rect l="l" t="t" r="r" b="b"/>
            <a:pathLst>
              <a:path w="7673777" h="4004316">
                <a:moveTo>
                  <a:pt x="0" y="0"/>
                </a:moveTo>
                <a:lnTo>
                  <a:pt x="7673777" y="0"/>
                </a:lnTo>
                <a:lnTo>
                  <a:pt x="7673777" y="4004316"/>
                </a:lnTo>
                <a:lnTo>
                  <a:pt x="0" y="40043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15201900" y="7236961"/>
            <a:ext cx="2174081" cy="2174081"/>
          </a:xfrm>
          <a:custGeom>
            <a:avLst/>
            <a:gdLst/>
            <a:ahLst/>
            <a:cxnLst/>
            <a:rect l="l" t="t" r="r" b="b"/>
            <a:pathLst>
              <a:path w="2174081" h="2174081">
                <a:moveTo>
                  <a:pt x="0" y="0"/>
                </a:moveTo>
                <a:lnTo>
                  <a:pt x="2174081" y="0"/>
                </a:lnTo>
                <a:lnTo>
                  <a:pt x="2174081" y="2174081"/>
                </a:lnTo>
                <a:lnTo>
                  <a:pt x="0" y="21740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2690952" cy="1345476"/>
          </a:xfrm>
          <a:custGeom>
            <a:avLst/>
            <a:gdLst/>
            <a:ahLst/>
            <a:cxnLst/>
            <a:rect l="l" t="t" r="r" b="b"/>
            <a:pathLst>
              <a:path w="2690952" h="1345476">
                <a:moveTo>
                  <a:pt x="0" y="0"/>
                </a:moveTo>
                <a:lnTo>
                  <a:pt x="2690952" y="0"/>
                </a:lnTo>
                <a:lnTo>
                  <a:pt x="2690952" y="1345476"/>
                </a:lnTo>
                <a:lnTo>
                  <a:pt x="0" y="1345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591410" y="2077189"/>
            <a:ext cx="8854017" cy="5560488"/>
          </a:xfrm>
          <a:custGeom>
            <a:avLst/>
            <a:gdLst/>
            <a:ahLst/>
            <a:cxnLst/>
            <a:rect l="l" t="t" r="r" b="b"/>
            <a:pathLst>
              <a:path w="8854017" h="5697916">
                <a:moveTo>
                  <a:pt x="0" y="0"/>
                </a:moveTo>
                <a:lnTo>
                  <a:pt x="8854017" y="0"/>
                </a:lnTo>
                <a:lnTo>
                  <a:pt x="8854017" y="5697916"/>
                </a:lnTo>
                <a:lnTo>
                  <a:pt x="0" y="569791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572" r="-57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10533577" y="2098813"/>
            <a:ext cx="7088981" cy="5612171"/>
          </a:xfrm>
          <a:custGeom>
            <a:avLst/>
            <a:gdLst/>
            <a:ahLst/>
            <a:cxnLst/>
            <a:rect l="l" t="t" r="r" b="b"/>
            <a:pathLst>
              <a:path w="6644624" h="5842534">
                <a:moveTo>
                  <a:pt x="0" y="0"/>
                </a:moveTo>
                <a:lnTo>
                  <a:pt x="6644625" y="0"/>
                </a:lnTo>
                <a:lnTo>
                  <a:pt x="6644625" y="5842535"/>
                </a:lnTo>
                <a:lnTo>
                  <a:pt x="0" y="58425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r="-67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Freeform 9"/>
          <p:cNvSpPr/>
          <p:nvPr/>
        </p:nvSpPr>
        <p:spPr>
          <a:xfrm>
            <a:off x="591410" y="8972161"/>
            <a:ext cx="8854017" cy="1104860"/>
          </a:xfrm>
          <a:custGeom>
            <a:avLst/>
            <a:gdLst/>
            <a:ahLst/>
            <a:cxnLst/>
            <a:rect l="l" t="t" r="r" b="b"/>
            <a:pathLst>
              <a:path w="3930705" h="831895">
                <a:moveTo>
                  <a:pt x="0" y="0"/>
                </a:moveTo>
                <a:lnTo>
                  <a:pt x="3930705" y="0"/>
                </a:lnTo>
                <a:lnTo>
                  <a:pt x="3930705" y="831895"/>
                </a:lnTo>
                <a:lnTo>
                  <a:pt x="0" y="8318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10"/>
          <p:cNvSpPr/>
          <p:nvPr/>
        </p:nvSpPr>
        <p:spPr>
          <a:xfrm>
            <a:off x="10533577" y="8985336"/>
            <a:ext cx="7088981" cy="1091685"/>
          </a:xfrm>
          <a:custGeom>
            <a:avLst/>
            <a:gdLst/>
            <a:ahLst/>
            <a:cxnLst/>
            <a:rect l="l" t="t" r="r" b="b"/>
            <a:pathLst>
              <a:path w="3357906" h="1104860">
                <a:moveTo>
                  <a:pt x="0" y="0"/>
                </a:moveTo>
                <a:lnTo>
                  <a:pt x="3357906" y="0"/>
                </a:lnTo>
                <a:lnTo>
                  <a:pt x="3357906" y="1104859"/>
                </a:lnTo>
                <a:lnTo>
                  <a:pt x="0" y="110485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591411" y="7907788"/>
            <a:ext cx="8704990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533577" y="7907788"/>
            <a:ext cx="7088981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12019" y="1194120"/>
            <a:ext cx="8739472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PYTHON CODE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0" y="1269276"/>
            <a:ext cx="7088981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SQL QUEREY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329" y="466557"/>
            <a:ext cx="18161342" cy="652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95"/>
              </a:lnSpc>
              <a:spcBef>
                <a:spcPct val="0"/>
              </a:spcBef>
            </a:pPr>
            <a:r>
              <a:rPr lang="en-US" sz="385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Q14. CUSTOMER RETENTION RATE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15100" y="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73200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0" y="6282684"/>
            <a:ext cx="7673777" cy="4004316"/>
          </a:xfrm>
          <a:custGeom>
            <a:avLst/>
            <a:gdLst/>
            <a:ahLst/>
            <a:cxnLst/>
            <a:rect l="l" t="t" r="r" b="b"/>
            <a:pathLst>
              <a:path w="7673777" h="4004316">
                <a:moveTo>
                  <a:pt x="0" y="0"/>
                </a:moveTo>
                <a:lnTo>
                  <a:pt x="7673777" y="0"/>
                </a:lnTo>
                <a:lnTo>
                  <a:pt x="7673777" y="4004316"/>
                </a:lnTo>
                <a:lnTo>
                  <a:pt x="0" y="40043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15201900" y="7236961"/>
            <a:ext cx="2174081" cy="2174081"/>
          </a:xfrm>
          <a:custGeom>
            <a:avLst/>
            <a:gdLst/>
            <a:ahLst/>
            <a:cxnLst/>
            <a:rect l="l" t="t" r="r" b="b"/>
            <a:pathLst>
              <a:path w="2174081" h="2174081">
                <a:moveTo>
                  <a:pt x="0" y="0"/>
                </a:moveTo>
                <a:lnTo>
                  <a:pt x="2174081" y="0"/>
                </a:lnTo>
                <a:lnTo>
                  <a:pt x="2174081" y="2174081"/>
                </a:lnTo>
                <a:lnTo>
                  <a:pt x="0" y="21740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2690952" cy="1345476"/>
          </a:xfrm>
          <a:custGeom>
            <a:avLst/>
            <a:gdLst/>
            <a:ahLst/>
            <a:cxnLst/>
            <a:rect l="l" t="t" r="r" b="b"/>
            <a:pathLst>
              <a:path w="2690952" h="1345476">
                <a:moveTo>
                  <a:pt x="0" y="0"/>
                </a:moveTo>
                <a:lnTo>
                  <a:pt x="2690952" y="0"/>
                </a:lnTo>
                <a:lnTo>
                  <a:pt x="2690952" y="1345476"/>
                </a:lnTo>
                <a:lnTo>
                  <a:pt x="0" y="1345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10991069" y="2254103"/>
            <a:ext cx="6854128" cy="4193592"/>
          </a:xfrm>
          <a:custGeom>
            <a:avLst/>
            <a:gdLst/>
            <a:ahLst/>
            <a:cxnLst/>
            <a:rect l="l" t="t" r="r" b="b"/>
            <a:pathLst>
              <a:path w="5468872" h="4367010">
                <a:moveTo>
                  <a:pt x="0" y="0"/>
                </a:moveTo>
                <a:lnTo>
                  <a:pt x="5468872" y="0"/>
                </a:lnTo>
                <a:lnTo>
                  <a:pt x="5468872" y="4367010"/>
                </a:lnTo>
                <a:lnTo>
                  <a:pt x="0" y="43670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616396" y="2254102"/>
            <a:ext cx="9442004" cy="4151439"/>
          </a:xfrm>
          <a:custGeom>
            <a:avLst/>
            <a:gdLst/>
            <a:ahLst/>
            <a:cxnLst/>
            <a:rect l="l" t="t" r="r" b="b"/>
            <a:pathLst>
              <a:path w="9632562" h="2119164">
                <a:moveTo>
                  <a:pt x="0" y="0"/>
                </a:moveTo>
                <a:lnTo>
                  <a:pt x="9632562" y="0"/>
                </a:lnTo>
                <a:lnTo>
                  <a:pt x="9632562" y="2119164"/>
                </a:lnTo>
                <a:lnTo>
                  <a:pt x="0" y="211916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Freeform 9"/>
          <p:cNvSpPr/>
          <p:nvPr/>
        </p:nvSpPr>
        <p:spPr>
          <a:xfrm>
            <a:off x="616396" y="7576974"/>
            <a:ext cx="9310874" cy="2297683"/>
          </a:xfrm>
          <a:custGeom>
            <a:avLst/>
            <a:gdLst/>
            <a:ahLst/>
            <a:cxnLst/>
            <a:rect l="l" t="t" r="r" b="b"/>
            <a:pathLst>
              <a:path w="9310874" h="2297683">
                <a:moveTo>
                  <a:pt x="0" y="0"/>
                </a:moveTo>
                <a:lnTo>
                  <a:pt x="9310874" y="0"/>
                </a:lnTo>
                <a:lnTo>
                  <a:pt x="9310874" y="2297684"/>
                </a:lnTo>
                <a:lnTo>
                  <a:pt x="0" y="229768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10"/>
          <p:cNvSpPr/>
          <p:nvPr/>
        </p:nvSpPr>
        <p:spPr>
          <a:xfrm>
            <a:off x="10614226" y="7576974"/>
            <a:ext cx="7230971" cy="2297682"/>
          </a:xfrm>
          <a:custGeom>
            <a:avLst/>
            <a:gdLst/>
            <a:ahLst/>
            <a:cxnLst/>
            <a:rect l="l" t="t" r="r" b="b"/>
            <a:pathLst>
              <a:path w="7075355" h="1064118">
                <a:moveTo>
                  <a:pt x="0" y="0"/>
                </a:moveTo>
                <a:lnTo>
                  <a:pt x="7075355" y="0"/>
                </a:lnTo>
                <a:lnTo>
                  <a:pt x="7075355" y="1064117"/>
                </a:lnTo>
                <a:lnTo>
                  <a:pt x="0" y="10641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5511" b="-55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712263" y="6742508"/>
            <a:ext cx="8984804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614226" y="6820747"/>
            <a:ext cx="6761756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OUTPUT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16396" y="969368"/>
            <a:ext cx="9442004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PYTHON CODE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48959" y="1269276"/>
            <a:ext cx="7596238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4"/>
              </a:lnSpc>
              <a:spcBef>
                <a:spcPct val="0"/>
              </a:spcBef>
            </a:pPr>
            <a:r>
              <a:rPr lang="en-US" sz="4474" b="1" dirty="0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SQL QUEREY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16396" y="9442"/>
            <a:ext cx="18161342" cy="1336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95"/>
              </a:lnSpc>
            </a:pPr>
            <a:r>
              <a:rPr lang="en-US" sz="3854" b="1">
                <a:solidFill>
                  <a:srgbClr val="000000"/>
                </a:solidFill>
                <a:latin typeface="Luktao Bold"/>
                <a:ea typeface="Luktao Bold"/>
                <a:cs typeface="Luktao Bold"/>
                <a:sym typeface="Luktao Bold"/>
              </a:rPr>
              <a:t>Q15.  TOP 3 CUSTOMERS WHO SPENT THE MOST MONEY IN EACH YEAR.</a:t>
            </a:r>
          </a:p>
          <a:p>
            <a:pPr algn="ctr">
              <a:lnSpc>
                <a:spcPts val="5395"/>
              </a:lnSpc>
              <a:spcBef>
                <a:spcPct val="0"/>
              </a:spcBef>
            </a:pPr>
            <a:endParaRPr lang="en-US" sz="3854" b="1">
              <a:solidFill>
                <a:srgbClr val="000000"/>
              </a:solidFill>
              <a:latin typeface="Luktao Bold"/>
              <a:ea typeface="Luktao Bold"/>
              <a:cs typeface="Luktao Bold"/>
              <a:sym typeface="Luktao Bold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15100" y="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029397" y="6143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 flipH="1" flipV="1">
            <a:off x="0" y="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0" y="4114800"/>
            <a:ext cx="11772900" cy="6143313"/>
          </a:xfrm>
          <a:custGeom>
            <a:avLst/>
            <a:gdLst/>
            <a:ahLst/>
            <a:cxnLst/>
            <a:rect l="l" t="t" r="r" b="b"/>
            <a:pathLst>
              <a:path w="11772900" h="6143313">
                <a:moveTo>
                  <a:pt x="0" y="0"/>
                </a:moveTo>
                <a:lnTo>
                  <a:pt x="11772900" y="0"/>
                </a:lnTo>
                <a:lnTo>
                  <a:pt x="11772900" y="6143313"/>
                </a:lnTo>
                <a:lnTo>
                  <a:pt x="0" y="6143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TextBox 6"/>
          <p:cNvSpPr txBox="1"/>
          <p:nvPr/>
        </p:nvSpPr>
        <p:spPr>
          <a:xfrm>
            <a:off x="2914790" y="4059268"/>
            <a:ext cx="12458420" cy="1949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942"/>
              </a:lnSpc>
            </a:pPr>
            <a:r>
              <a:rPr lang="en-US" sz="11387" b="1">
                <a:solidFill>
                  <a:srgbClr val="0166C2"/>
                </a:solidFill>
                <a:latin typeface="Luktao Bold"/>
                <a:ea typeface="Luktao Bold"/>
                <a:cs typeface="Luktao Bold"/>
                <a:sym typeface="Luktao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342</Words>
  <Application>Microsoft Office PowerPoint</Application>
  <PresentationFormat>Custom</PresentationFormat>
  <Paragraphs>92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Luktao Bold</vt:lpstr>
      <vt:lpstr>Arial</vt:lpstr>
      <vt:lpstr>Nourd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Presentation</dc:title>
  <cp:lastModifiedBy>gouri sharma</cp:lastModifiedBy>
  <cp:revision>2</cp:revision>
  <dcterms:created xsi:type="dcterms:W3CDTF">2006-08-16T00:00:00Z</dcterms:created>
  <dcterms:modified xsi:type="dcterms:W3CDTF">2026-04-26T10:10:44Z</dcterms:modified>
  <dc:identifier>DAHGQj-OerY</dc:identifier>
</cp:coreProperties>
</file>